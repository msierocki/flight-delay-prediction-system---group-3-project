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9" r:id="rId1"/>
  </p:sldMasterIdLst>
  <p:notesMasterIdLst>
    <p:notesMasterId r:id="rId13"/>
  </p:notesMasterIdLst>
  <p:handoutMasterIdLst>
    <p:handoutMasterId r:id="rId14"/>
  </p:handoutMasterIdLst>
  <p:sldIdLst>
    <p:sldId id="260" r:id="rId2"/>
    <p:sldId id="261" r:id="rId3"/>
    <p:sldId id="270" r:id="rId4"/>
    <p:sldId id="266" r:id="rId5"/>
    <p:sldId id="263" r:id="rId6"/>
    <p:sldId id="268" r:id="rId7"/>
    <p:sldId id="269" r:id="rId8"/>
    <p:sldId id="271" r:id="rId9"/>
    <p:sldId id="264"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1BDC7-5D3C-4CDC-922C-1B018A30233D}" v="55" dt="2026-09-25T15:30:12.412"/>
    <p1510:client id="{416AEB2E-3370-6E90-F408-B79544EF7B07}" v="70" dt="2026-09-25T22:56:25.892"/>
    <p1510:client id="{594E30D7-A10D-085B-46FD-E9DD374D6F30}" v="12" dt="2026-09-25T22:46:40.215"/>
    <p1510:client id="{C573DD08-BA6E-E195-03B0-A53A16740C9E}" v="276" dt="2026-09-25T23:04:36.642"/>
    <p1510:client id="{CA891EB3-E980-6DF4-EC10-3DFAFD1F8301}" v="3" dt="2026-09-25T22:05:00.251"/>
    <p1510:client id="{CB6677A5-0A76-C7E2-2CC6-1FE5F303D36B}" v="1206" dt="2026-09-25T19:45:04.168"/>
    <p1510:client id="{FF4EBFFB-8F4A-407C-9357-8265D367DE1B}" v="109" dt="2026-09-25T23:19:46.040"/>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9/28/2026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333333"/>
                </a:solidFill>
                <a:highlight>
                  <a:srgbClr val="FFFFFF"/>
                </a:highlight>
              </a:rPr>
              <a:t>Melissa -Clarity of the Problem &amp; ML System Purpose (4 points)</a:t>
            </a:r>
            <a:r>
              <a:rPr lang="en-US">
                <a:solidFill>
                  <a:srgbClr val="333333"/>
                </a:solidFill>
                <a:highlight>
                  <a:srgbClr val="FFFFFF"/>
                </a:highlight>
              </a:rPr>
              <a:t>: Is the problem well-defined, and is the ML system's purpose clearly explained?</a:t>
            </a:r>
            <a:endParaRPr lang="en-US"/>
          </a:p>
          <a:p>
            <a:pPr marL="285750" indent="-285750">
              <a:buFont typeface="Arial"/>
              <a:buChar char="•"/>
            </a:pPr>
            <a:endParaRPr lang="en-US"/>
          </a:p>
          <a:p>
            <a:r>
              <a:rPr lang="en-US" sz="1200" b="0" i="0" kern="1200">
                <a:solidFill>
                  <a:schemeClr val="tx1"/>
                </a:solidFill>
                <a:effectLst/>
                <a:latin typeface="+mn-lt"/>
                <a:ea typeface="+mn-ea"/>
                <a:cs typeface="+mn-cs"/>
              </a:rPr>
              <a:t>Our project is a Flight Delay Prediction System. The goal of our machine learning system is to predict whether a scheduled domestic flight will arrive 15 minutes or more late using information that is available before the flight departs. This matters because earlier delay awareness can help travelers, airlines, and airports make better decisions before disruptions happen.</a:t>
            </a:r>
            <a:endParaRPr lang="en-US" b="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912792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solidFill>
                  <a:srgbClr val="333333"/>
                </a:solidFill>
                <a:highlight>
                  <a:srgbClr val="FFFFFF"/>
                </a:highlight>
              </a:rPr>
              <a:t>Audrey</a:t>
            </a:r>
          </a:p>
          <a:p>
            <a:pPr marL="285750" indent="-285750">
              <a:buFont typeface="Arial"/>
              <a:buChar char="•"/>
            </a:pPr>
            <a:r>
              <a:rPr lang="en-US" b="1">
                <a:solidFill>
                  <a:srgbClr val="333333"/>
                </a:solidFill>
                <a:highlight>
                  <a:srgbClr val="FFFFFF"/>
                </a:highlight>
              </a:rPr>
              <a:t>Clarity of the ML System Diagram (4 points)</a:t>
            </a:r>
            <a:r>
              <a:rPr lang="en-US">
                <a:solidFill>
                  <a:srgbClr val="333333"/>
                </a:solidFill>
                <a:highlight>
                  <a:srgbClr val="FFFFFF"/>
                </a:highlight>
              </a:rPr>
              <a:t>: Does the system diagram effectively illustrate the data pipeline, model experimentation, and planned deployment?</a:t>
            </a:r>
            <a:endParaRPr lang="en-US"/>
          </a:p>
          <a:p>
            <a:endParaRPr lang="en-US">
              <a:latin typeface="Calibri"/>
              <a:ea typeface="Calibri"/>
              <a:cs typeface="Calibri"/>
            </a:endParaRPr>
          </a:p>
          <a:p>
            <a:r>
              <a:rPr lang="en-US" sz="1200" b="0" i="0" kern="1200">
                <a:solidFill>
                  <a:schemeClr val="tx1"/>
                </a:solidFill>
                <a:effectLst/>
                <a:latin typeface="+mn-lt"/>
                <a:ea typeface="+mn-ea"/>
                <a:cs typeface="+mn-cs"/>
              </a:rPr>
              <a:t>We focused on three main areas for the MVP: 1. Data Pipeline 2. ML Model Development, especially experiment structure, </a:t>
            </a:r>
            <a:r>
              <a:rPr lang="en-US" sz="1200" b="0" i="0" kern="1200" err="1">
                <a:solidFill>
                  <a:schemeClr val="tx1"/>
                </a:solidFill>
                <a:effectLst/>
                <a:latin typeface="+mn-lt"/>
                <a:ea typeface="+mn-ea"/>
                <a:cs typeface="+mn-cs"/>
              </a:rPr>
              <a:t>MLflow</a:t>
            </a:r>
            <a:r>
              <a:rPr lang="en-US" sz="1200" b="0" i="0" kern="1200">
                <a:solidFill>
                  <a:schemeClr val="tx1"/>
                </a:solidFill>
                <a:effectLst/>
                <a:latin typeface="+mn-lt"/>
                <a:ea typeface="+mn-ea"/>
                <a:cs typeface="+mn-cs"/>
              </a:rPr>
              <a:t> planning, model comparison, and versioning 3. Basic System Integration, including our current prediction script and the </a:t>
            </a:r>
            <a:r>
              <a:rPr lang="en-US" sz="1200" b="0" i="0" kern="1200" err="1">
                <a:solidFill>
                  <a:schemeClr val="tx1"/>
                </a:solidFill>
                <a:effectLst/>
                <a:latin typeface="+mn-lt"/>
                <a:ea typeface="+mn-ea"/>
                <a:cs typeface="+mn-cs"/>
              </a:rPr>
              <a:t>Streamlit</a:t>
            </a:r>
            <a:r>
              <a:rPr lang="en-US" sz="1200" b="0" i="0" kern="1200">
                <a:solidFill>
                  <a:schemeClr val="tx1"/>
                </a:solidFill>
                <a:effectLst/>
                <a:latin typeface="+mn-lt"/>
                <a:ea typeface="+mn-ea"/>
                <a:cs typeface="+mn-cs"/>
              </a:rPr>
              <a:t> web app</a:t>
            </a:r>
          </a:p>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62724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solidFill>
                  <a:srgbClr val="333333"/>
                </a:solidFill>
                <a:highlight>
                  <a:srgbClr val="FFFFFF"/>
                </a:highlight>
              </a:rPr>
              <a:t>Audrey</a:t>
            </a:r>
            <a:endParaRPr lang="en-US">
              <a:solidFill>
                <a:srgbClr val="000000"/>
              </a:solidFill>
            </a:endParaRPr>
          </a:p>
          <a:p>
            <a:pPr marL="285750" indent="-285750">
              <a:buFont typeface="Arial"/>
              <a:buChar char="•"/>
            </a:pPr>
            <a:r>
              <a:rPr lang="en-US" b="1">
                <a:solidFill>
                  <a:srgbClr val="333333"/>
                </a:solidFill>
                <a:highlight>
                  <a:srgbClr val="FFFFFF"/>
                </a:highlight>
              </a:rPr>
              <a:t>Implementation of Data Pipeline (4 points)</a:t>
            </a:r>
            <a:r>
              <a:rPr lang="en-US">
                <a:solidFill>
                  <a:srgbClr val="333333"/>
                </a:solidFill>
                <a:highlight>
                  <a:srgbClr val="FFFFFF"/>
                </a:highlight>
              </a:rPr>
              <a:t>: Does the prototype include a functional data pipeline with ingestion, processing, validation, and versioning?</a:t>
            </a:r>
            <a:endParaRPr lang="en-US"/>
          </a:p>
          <a:p>
            <a:endParaRPr lang="en-US">
              <a:solidFill>
                <a:srgbClr val="333333"/>
              </a:solidFill>
              <a:highlight>
                <a:srgbClr val="FFFFFF"/>
              </a:highlight>
              <a:latin typeface="Aptos"/>
              <a:ea typeface="Calibri"/>
              <a:cs typeface="Calibri"/>
            </a:endParaRPr>
          </a:p>
          <a:p>
            <a:r>
              <a:rPr lang="en-US">
                <a:solidFill>
                  <a:srgbClr val="000000"/>
                </a:solidFill>
                <a:latin typeface="Calibri"/>
                <a:ea typeface="Calibri"/>
                <a:cs typeface="Calibri"/>
              </a:rPr>
              <a:t>Our data pipeline follows the structure we designed in our proposal. We built the MVP as a batch pipeline using historical BTS Airline On-Time Performance data. </a:t>
            </a:r>
          </a:p>
          <a:p>
            <a:endParaRPr lang="en-US">
              <a:solidFill>
                <a:srgbClr val="000000"/>
              </a:solidFill>
              <a:latin typeface="Calibri"/>
              <a:ea typeface="Calibri"/>
              <a:cs typeface="Calibri"/>
            </a:endParaRPr>
          </a:p>
          <a:p>
            <a:r>
              <a:rPr lang="en-US">
                <a:solidFill>
                  <a:srgbClr val="000000"/>
                </a:solidFill>
                <a:latin typeface="Calibri"/>
                <a:ea typeface="Calibri"/>
                <a:cs typeface="Calibri"/>
              </a:rPr>
              <a:t>Ingestion: The raw BTS file is stored unchanged in the raw data folder. We then use a Python preprocessing script (data_prep.py) to read the raw CSV and prepare it for modeling. </a:t>
            </a:r>
          </a:p>
          <a:p>
            <a:endParaRPr lang="en-US">
              <a:solidFill>
                <a:srgbClr val="000000"/>
              </a:solidFill>
              <a:latin typeface="Calibri"/>
              <a:ea typeface="Calibri"/>
              <a:cs typeface="Calibri"/>
            </a:endParaRPr>
          </a:p>
          <a:p>
            <a:r>
              <a:rPr lang="en-US">
                <a:solidFill>
                  <a:srgbClr val="000000"/>
                </a:solidFill>
                <a:latin typeface="Calibri"/>
                <a:ea typeface="Calibri"/>
                <a:cs typeface="Calibri"/>
              </a:rPr>
              <a:t>Validation and Cleaning: In the data prep stage, we apply several validation and quality checks – removing cancelled flights, removing diverted flights, drop rows where the target cannot be determined, check values in our important fields, check dataset size before and after filtering, and engineer modeling features only from information available before the flight – not the results after the flight. This information are </a:t>
            </a:r>
            <a:r>
              <a:rPr lang="en-US">
                <a:solidFill>
                  <a:srgbClr val="000000"/>
                </a:solidFill>
              </a:rPr>
              <a:t>pre-departure features such as: flight date, route information, origin and destination, schedule departure and arrival times, time features like departure hour, month, day and weekends. This is important because of data leakage. We do not use post-flight information like actual arrival delay as a model input. </a:t>
            </a:r>
          </a:p>
          <a:p>
            <a:endParaRPr lang="en-US">
              <a:solidFill>
                <a:srgbClr val="000000"/>
              </a:solidFill>
              <a:latin typeface="Calibri"/>
              <a:ea typeface="Calibri"/>
              <a:cs typeface="Calibri"/>
            </a:endParaRPr>
          </a:p>
          <a:p>
            <a:r>
              <a:rPr lang="en-US">
                <a:solidFill>
                  <a:srgbClr val="000000"/>
                </a:solidFill>
                <a:latin typeface="Calibri"/>
                <a:ea typeface="Calibri"/>
                <a:cs typeface="Calibri"/>
              </a:rPr>
              <a:t>We also log the cleaning results in a validation summary and maintain a dataset version log. For version 1, the processed dataset was built from the January 2026 BTS raw file. </a:t>
            </a:r>
          </a:p>
          <a:p>
            <a:endParaRPr lang="en-US">
              <a:solidFill>
                <a:srgbClr val="000000"/>
              </a:solidFill>
              <a:latin typeface="Calibri"/>
              <a:ea typeface="Calibri"/>
              <a:cs typeface="Calibri"/>
            </a:endParaRPr>
          </a:p>
          <a:p>
            <a:r>
              <a:rPr lang="en-US">
                <a:solidFill>
                  <a:srgbClr val="000000"/>
                </a:solidFill>
                <a:latin typeface="Calibri"/>
                <a:ea typeface="Calibri"/>
                <a:cs typeface="Calibri"/>
              </a:rPr>
              <a:t>Versioning: For reproducibility, we version our processed data files and keep a dataset log. Our current dataset tracking includes dataset version, source file, creation date, row counts before and after cleaning, filters applied and the engineered features. This supports traceability and makes it easier to compare future versions when we add more features like weather or previous-flight information</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164099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solidFill>
                  <a:srgbClr val="333333"/>
                </a:solidFill>
                <a:highlight>
                  <a:srgbClr val="FFFFFF"/>
                </a:highlight>
              </a:rPr>
              <a:t>Audrey</a:t>
            </a:r>
          </a:p>
          <a:p>
            <a:pPr marL="285750" indent="-285750">
              <a:buFont typeface="Arial"/>
              <a:buChar char="•"/>
            </a:pPr>
            <a:r>
              <a:rPr lang="en-US" b="1">
                <a:solidFill>
                  <a:srgbClr val="333333"/>
                </a:solidFill>
                <a:highlight>
                  <a:srgbClr val="FFFFFF"/>
                </a:highlight>
              </a:rPr>
              <a:t>ML Model Development (4 points)</a:t>
            </a:r>
            <a:r>
              <a:rPr lang="en-US">
                <a:solidFill>
                  <a:srgbClr val="333333"/>
                </a:solidFill>
                <a:highlight>
                  <a:srgbClr val="FFFFFF"/>
                </a:highlight>
              </a:rPr>
              <a:t>: Has an initial model been trained with proper experiment tracking and versioning?</a:t>
            </a:r>
            <a:endParaRPr lang="en-US"/>
          </a:p>
          <a:p>
            <a:r>
              <a:rPr lang="en-US">
                <a:latin typeface="Calibri"/>
                <a:ea typeface="Calibri"/>
                <a:cs typeface="Calibri"/>
              </a:rPr>
              <a:t>For the MVP, we developed an initial supervised learning pipeline to predict the binary target of 1 = flight delayed by at least.</a:t>
            </a:r>
          </a:p>
          <a:p>
            <a:r>
              <a:rPr lang="en-US">
                <a:latin typeface="Calibri"/>
                <a:ea typeface="Calibri"/>
                <a:cs typeface="Calibri"/>
              </a:rPr>
              <a:t>We trained 2 main Version 1 models...Logistic Regression as the baseline and Random Forest as the primary nonlinear model</a:t>
            </a:r>
          </a:p>
          <a:p>
            <a:r>
              <a:rPr lang="en-US">
                <a:latin typeface="Calibri"/>
                <a:ea typeface="Calibri"/>
                <a:cs typeface="Calibri"/>
              </a:rPr>
              <a:t>We build scripts to load the model-ready dataset, split data chronologically into train, validation, and test periods, preprocess categorical and numeric features, train each model and evaluate performance using our metrics of accuracy, precision, recall, F1 score, ROC-AUC. </a:t>
            </a:r>
          </a:p>
          <a:p>
            <a:r>
              <a:rPr lang="en-US">
                <a:latin typeface="Calibri"/>
                <a:ea typeface="Calibri"/>
                <a:cs typeface="Calibri"/>
              </a:rPr>
              <a:t>The current performance of V1 results show the trade off between the 2 models. Random Forest achieved a stronger recall and F1 score but a lower accuracy and the baseline achieved stronger accuracy, slightly stronger ROC-AUC but a weaker recall. This means that Random Forest is currently better at catching delayed flights, while Logistic Regression is more conservative overall. </a:t>
            </a:r>
          </a:p>
          <a:p>
            <a:endParaRPr lang="en-US">
              <a:latin typeface="Calibri"/>
              <a:ea typeface="Calibri"/>
              <a:cs typeface="Calibri"/>
            </a:endParaRPr>
          </a:p>
          <a:p>
            <a:r>
              <a:rPr lang="en-US">
                <a:latin typeface="Calibri"/>
                <a:ea typeface="Calibri"/>
                <a:cs typeface="Calibri"/>
              </a:rPr>
              <a:t>For our project goal, recall and F1 are especially important because missing a real delay reduces the usefulness of our system. Based on that, Random Forest is currently our strongest V1 model. </a:t>
            </a:r>
          </a:p>
          <a:p>
            <a:endParaRPr lang="en-US">
              <a:latin typeface="Calibri"/>
              <a:ea typeface="Calibri"/>
              <a:cs typeface="Calibri"/>
            </a:endParaRPr>
          </a:p>
          <a:p>
            <a:r>
              <a:rPr lang="en-US">
                <a:latin typeface="Calibri"/>
                <a:ea typeface="Calibri"/>
                <a:cs typeface="Calibri"/>
              </a:rPr>
              <a:t>We have also started the structure for experiment tracking. We created an MLFlow and identified what each run should log – model name, dataset version, training script, hyperparameters, validation metrics, test metrics and the saved model artifact path. For the MVP, this gives us a clear path for centralized experiment tracking. </a:t>
            </a:r>
          </a:p>
          <a:p>
            <a:endParaRPr lang="en-US">
              <a:latin typeface="Calibri"/>
              <a:ea typeface="Calibri"/>
              <a:cs typeface="Calibri"/>
            </a:endParaRPr>
          </a:p>
          <a:p>
            <a:r>
              <a:rPr lang="en-US">
                <a:latin typeface="Calibri"/>
                <a:ea typeface="Calibri"/>
                <a:cs typeface="Calibri"/>
              </a:rPr>
              <a:t>To begin system integration, we built a script (predict_flight.py) that loads the saved trained model, accepts a single flights information from the user, engineering the required input features, predicts the probability that the flight will be delayed, and returns a risk-based output. This means our prototype already supports the core user workflow -&gt; enter a flight, then get back a delay prediction. It returns the predicted probability of delay, the risk level (low, moderate, high) and prediction of delayed or not delayed. </a:t>
            </a:r>
          </a:p>
          <a:p>
            <a:endParaRPr lang="en-US">
              <a:latin typeface="Calibri"/>
              <a:ea typeface="Calibri"/>
              <a:cs typeface="Calibri"/>
            </a:endParaRPr>
          </a:p>
          <a:p>
            <a:r>
              <a:rPr lang="en-US">
                <a:latin typeface="Calibri"/>
                <a:ea typeface="Calibri"/>
                <a:cs typeface="Calibri"/>
              </a:rPr>
              <a:t>NOTE: other's </a:t>
            </a:r>
            <a:r>
              <a:rPr lang="en-US" err="1">
                <a:latin typeface="Calibri"/>
                <a:ea typeface="Calibri"/>
                <a:cs typeface="Calibri"/>
              </a:rPr>
              <a:t>demo'd</a:t>
            </a:r>
            <a:r>
              <a:rPr lang="en-US">
                <a:latin typeface="Calibri"/>
                <a:ea typeface="Calibri"/>
                <a:cs typeface="Calibri"/>
              </a:rPr>
              <a:t> </a:t>
            </a:r>
            <a:r>
              <a:rPr lang="en-US" err="1">
                <a:latin typeface="Calibri"/>
                <a:ea typeface="Calibri"/>
                <a:cs typeface="Calibri"/>
              </a:rPr>
              <a:t>MLFlow</a:t>
            </a:r>
            <a:r>
              <a:rPr lang="en-US">
                <a:latin typeface="Calibri"/>
                <a:ea typeface="Calibri"/>
                <a:cs typeface="Calibri"/>
              </a:rPr>
              <a:t> to show their tracking and versioning</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12440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Jamie</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78533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Jamie</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4197031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Jamie </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518361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solidFill>
                  <a:srgbClr val="333333"/>
                </a:solidFill>
                <a:highlight>
                  <a:srgbClr val="FFFFFF"/>
                </a:highlight>
              </a:rPr>
              <a:t>System Integration (Extra Credit)</a:t>
            </a:r>
            <a:r>
              <a:rPr lang="en-US">
                <a:solidFill>
                  <a:srgbClr val="333333"/>
                </a:solidFill>
                <a:highlight>
                  <a:srgbClr val="FFFFFF"/>
                </a:highlight>
              </a:rPr>
              <a:t>: While not required, early integration into an API, web app, or CLI tool may earn extra credit points.</a:t>
            </a: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757476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Lila -The next step is to connect the training scripts directly into MLFlow so that each model run is automatically recorded and comparable in the MLFlow UI. </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244301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9/28/2026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9/28/2026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9/28/2026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9/28/2026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9/28/2026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9/28/2026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9/28/2026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9/28/2026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9/28/2026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9/28/2026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9/28/2026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9/28/2026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9/28/2026</a:t>
            </a:fld>
            <a:endParaRPr lang="en-US"/>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9/28/2026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9/28/2026</a:t>
            </a:fld>
            <a:endParaRPr lang="en-US"/>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9/28/2026</a:t>
            </a:fld>
            <a:endParaRPr lang="en-US"/>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9/28/2026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9/28/2026</a:t>
            </a:fld>
            <a:endParaRPr lang="en-US"/>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9/28/2026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9/28/2026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9/28/2026</a:t>
            </a:fld>
            <a:endParaRPr lang="en-US"/>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9/28/2026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9/28/2026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9/28/2026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9/28/2026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9/28/2026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9/28/2026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9/28/2026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9/28/2026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9/28/2026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9/28/2026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9/28/2026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9/28/2026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9/28/2026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9/28/2026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9/28/2026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9/28/2026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9/28/2026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9/28/2026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irport-delay-prediction-dya8oxfwsgdycrxu8rzjkp.streamlit.app/"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168563" y="518682"/>
            <a:ext cx="11000509" cy="4762210"/>
          </a:xfrm>
        </p:spPr>
        <p:txBody>
          <a:bodyPr>
            <a:normAutofit/>
          </a:bodyPr>
          <a:lstStyle/>
          <a:p>
            <a:pPr>
              <a:lnSpc>
                <a:spcPct val="100000"/>
              </a:lnSpc>
            </a:pPr>
            <a:r>
              <a:rPr lang="en-US" sz="6000" b="1">
                <a:ea typeface="+mj-lt"/>
                <a:cs typeface="+mj-lt"/>
              </a:rPr>
              <a:t>Flight Delay Prediction ML System</a:t>
            </a:r>
            <a:endParaRPr lang="en-US" sz="6000">
              <a:ea typeface="+mj-lt"/>
              <a:cs typeface="+mj-lt"/>
            </a:endParaRPr>
          </a:p>
          <a:p>
            <a:endParaRPr lang="en-US"/>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167767" y="5282604"/>
            <a:ext cx="11863645" cy="1468472"/>
          </a:xfrm>
        </p:spPr>
        <p:txBody>
          <a:bodyPr vert="horz" lIns="91440" tIns="45720" rIns="91440" bIns="45720" rtlCol="0" anchor="t">
            <a:noAutofit/>
          </a:bodyPr>
          <a:lstStyle/>
          <a:p>
            <a:pPr>
              <a:lnSpc>
                <a:spcPct val="80000"/>
              </a:lnSpc>
              <a:spcBef>
                <a:spcPct val="0"/>
              </a:spcBef>
            </a:pPr>
            <a:r>
              <a:rPr lang="en-US" sz="1900">
                <a:latin typeface="Aptos Light"/>
              </a:rPr>
              <a:t>Team members: </a:t>
            </a:r>
            <a:r>
              <a:rPr lang="en-US" sz="1900">
                <a:latin typeface="Aptos Light"/>
                <a:ea typeface="+mn-lt"/>
                <a:cs typeface="+mn-lt"/>
              </a:rPr>
              <a:t>Megan Fields · Audrey Hartford · Lila Isett · Jamie Jordan · Melissa Sierocki</a:t>
            </a:r>
          </a:p>
          <a:p>
            <a:pPr>
              <a:lnSpc>
                <a:spcPct val="80000"/>
              </a:lnSpc>
              <a:spcBef>
                <a:spcPct val="0"/>
              </a:spcBef>
            </a:pPr>
            <a:endParaRPr lang="en-US" sz="1900">
              <a:latin typeface="Aptos Light"/>
            </a:endParaRPr>
          </a:p>
          <a:p>
            <a:pPr>
              <a:lnSpc>
                <a:spcPct val="80000"/>
              </a:lnSpc>
              <a:spcBef>
                <a:spcPct val="0"/>
              </a:spcBef>
            </a:pPr>
            <a:r>
              <a:rPr lang="en-US" sz="1900">
                <a:latin typeface="Aptos Light"/>
              </a:rPr>
              <a:t>BANA 7075</a:t>
            </a:r>
          </a:p>
          <a:p>
            <a:pPr>
              <a:lnSpc>
                <a:spcPct val="80000"/>
              </a:lnSpc>
              <a:spcBef>
                <a:spcPct val="0"/>
              </a:spcBef>
            </a:pPr>
            <a:endParaRPr lang="en-US" sz="1900">
              <a:latin typeface="Aptos Light"/>
            </a:endParaRPr>
          </a:p>
          <a:p>
            <a:pPr>
              <a:lnSpc>
                <a:spcPct val="80000"/>
              </a:lnSpc>
              <a:spcBef>
                <a:spcPct val="0"/>
              </a:spcBef>
            </a:pPr>
            <a:r>
              <a:rPr lang="en-US" sz="1900">
                <a:latin typeface="Aptos Light"/>
              </a:rPr>
              <a:t>Final Project MVP</a:t>
            </a:r>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04268-3BCF-3A11-B83A-0E1C92616990}"/>
              </a:ext>
            </a:extLst>
          </p:cNvPr>
          <p:cNvSpPr>
            <a:spLocks noGrp="1"/>
          </p:cNvSpPr>
          <p:nvPr>
            <p:ph type="title"/>
          </p:nvPr>
        </p:nvSpPr>
        <p:spPr>
          <a:xfrm>
            <a:off x="457200" y="452821"/>
            <a:ext cx="4800600" cy="916034"/>
          </a:xfrm>
        </p:spPr>
        <p:txBody>
          <a:bodyPr>
            <a:normAutofit/>
          </a:bodyPr>
          <a:lstStyle/>
          <a:p>
            <a:r>
              <a:rPr lang="en-US" sz="3600" b="1">
                <a:cs typeface="Biome"/>
              </a:rPr>
              <a:t>Problem &amp; Purpose </a:t>
            </a:r>
            <a:endParaRPr lang="en-US" sz="3600">
              <a:cs typeface="Biome"/>
            </a:endParaRPr>
          </a:p>
          <a:p>
            <a:endParaRPr lang="en-US" b="1"/>
          </a:p>
          <a:p>
            <a:endParaRPr lang="en-US"/>
          </a:p>
        </p:txBody>
      </p:sp>
      <p:sp>
        <p:nvSpPr>
          <p:cNvPr id="3" name="Content Placeholder 2">
            <a:extLst>
              <a:ext uri="{FF2B5EF4-FFF2-40B4-BE49-F238E27FC236}">
                <a16:creationId xmlns:a16="http://schemas.microsoft.com/office/drawing/2014/main" id="{45C9DC15-3094-AC6D-FF36-770C267DD178}"/>
              </a:ext>
            </a:extLst>
          </p:cNvPr>
          <p:cNvSpPr>
            <a:spLocks noGrp="1"/>
          </p:cNvSpPr>
          <p:nvPr>
            <p:ph sz="quarter" idx="13"/>
          </p:nvPr>
        </p:nvSpPr>
        <p:spPr>
          <a:xfrm>
            <a:off x="163786" y="997811"/>
            <a:ext cx="5387428" cy="5398609"/>
          </a:xfrm>
        </p:spPr>
        <p:txBody>
          <a:bodyPr vert="horz" lIns="91440" tIns="45720" rIns="91440" bIns="45720" rtlCol="0" anchor="t">
            <a:normAutofit/>
          </a:bodyPr>
          <a:lstStyle/>
          <a:p>
            <a:pPr marL="0" indent="0">
              <a:lnSpc>
                <a:spcPct val="170000"/>
              </a:lnSpc>
              <a:spcAft>
                <a:spcPts val="600"/>
              </a:spcAft>
              <a:buNone/>
            </a:pPr>
            <a:r>
              <a:rPr lang="en-US" sz="1900" b="1"/>
              <a:t>Problem:</a:t>
            </a:r>
            <a:r>
              <a:rPr lang="en-US" sz="1900"/>
              <a:t> </a:t>
            </a:r>
            <a:r>
              <a:rPr lang="en-US" sz="1900">
                <a:ea typeface="+mn-lt"/>
                <a:cs typeface="+mn-lt"/>
              </a:rPr>
              <a:t>Flight delays affect travelers, airlines, and airports daily, causing angry travelers, frustrated airport employees, and reduced customer satisfaction with specific airlines and airports.</a:t>
            </a:r>
            <a:endParaRPr lang="en-US" sz="1900"/>
          </a:p>
          <a:p>
            <a:pPr marL="0" indent="0">
              <a:lnSpc>
                <a:spcPct val="170000"/>
              </a:lnSpc>
              <a:spcAft>
                <a:spcPts val="600"/>
              </a:spcAft>
              <a:buNone/>
            </a:pPr>
            <a:r>
              <a:rPr lang="en-US" sz="1900" b="1"/>
              <a:t>ML Solution</a:t>
            </a:r>
            <a:r>
              <a:rPr lang="en-US" sz="1900"/>
              <a:t>: Predict whether a flight will arrive </a:t>
            </a:r>
            <a:r>
              <a:rPr lang="en-US" sz="1900" b="1"/>
              <a:t>15+ minutes late</a:t>
            </a:r>
            <a:r>
              <a:rPr lang="en-US" sz="1900"/>
              <a:t> </a:t>
            </a:r>
          </a:p>
          <a:p>
            <a:pPr marL="285750" indent="-285750">
              <a:lnSpc>
                <a:spcPct val="170000"/>
              </a:lnSpc>
              <a:spcAft>
                <a:spcPts val="600"/>
              </a:spcAft>
              <a:buFont typeface="Arial"/>
              <a:buChar char="•"/>
            </a:pPr>
            <a:r>
              <a:rPr lang="en-US" sz="1900"/>
              <a:t>Gives travelers/airlines earlier information about potential delays </a:t>
            </a:r>
          </a:p>
          <a:p>
            <a:pPr marL="285750" indent="-285750">
              <a:lnSpc>
                <a:spcPct val="170000"/>
              </a:lnSpc>
              <a:spcAft>
                <a:spcPts val="600"/>
              </a:spcAft>
              <a:buFont typeface="Arial"/>
              <a:buChar char="•"/>
            </a:pPr>
            <a:r>
              <a:rPr lang="en-US" sz="1900"/>
              <a:t>Help support better travel and operational decisions</a:t>
            </a:r>
          </a:p>
          <a:p>
            <a:pPr>
              <a:spcAft>
                <a:spcPts val="600"/>
              </a:spcAft>
            </a:pPr>
            <a:endParaRPr lang="en-US"/>
          </a:p>
        </p:txBody>
      </p:sp>
      <p:pic>
        <p:nvPicPr>
          <p:cNvPr id="4" name="Picture 3" title="Wing seen from airplane window">
            <a:extLst>
              <a:ext uri="{FF2B5EF4-FFF2-40B4-BE49-F238E27FC236}">
                <a16:creationId xmlns:a16="http://schemas.microsoft.com/office/drawing/2014/main" id="{F48997C0-4595-CF22-C437-224D8DD3ED64}"/>
              </a:ext>
            </a:extLst>
          </p:cNvPr>
          <p:cNvPicPr>
            <a:picLocks noChangeAspect="1"/>
          </p:cNvPicPr>
          <p:nvPr/>
        </p:nvPicPr>
        <p:blipFill>
          <a:blip r:embed="rId3"/>
          <a:stretch>
            <a:fillRect/>
          </a:stretch>
        </p:blipFill>
        <p:spPr>
          <a:xfrm>
            <a:off x="5715000" y="998982"/>
            <a:ext cx="6480048" cy="4860036"/>
          </a:xfrm>
          <a:prstGeom prst="rect">
            <a:avLst/>
          </a:prstGeom>
          <a:noFill/>
        </p:spPr>
      </p:pic>
    </p:spTree>
    <p:extLst>
      <p:ext uri="{BB962C8B-B14F-4D97-AF65-F5344CB8AC3E}">
        <p14:creationId xmlns:p14="http://schemas.microsoft.com/office/powerpoint/2010/main" val="3094889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17E9A4-08D4-A608-ECE9-C8A9163C714F}"/>
              </a:ext>
            </a:extLst>
          </p:cNvPr>
          <p:cNvSpPr txBox="1"/>
          <p:nvPr/>
        </p:nvSpPr>
        <p:spPr>
          <a:xfrm>
            <a:off x="502920" y="256032"/>
            <a:ext cx="5757987" cy="477054"/>
          </a:xfrm>
          <a:prstGeom prst="rect">
            <a:avLst/>
          </a:prstGeom>
        </p:spPr>
        <p:txBody>
          <a:bodyPr vert="horz" lIns="91440" tIns="45720" rIns="91440" bIns="45720" rtlCol="0" anchor="t">
            <a:normAutofit fontScale="70000" lnSpcReduction="20000"/>
          </a:bodyPr>
          <a:lstStyle/>
          <a:p>
            <a:pPr>
              <a:lnSpc>
                <a:spcPct val="80000"/>
              </a:lnSpc>
              <a:spcBef>
                <a:spcPct val="0"/>
              </a:spcBef>
              <a:defRPr sz="2500" b="1">
                <a:solidFill>
                  <a:srgbClr val="192332"/>
                </a:solidFill>
                <a:latin typeface="Aptos Display"/>
              </a:defRPr>
            </a:pPr>
            <a:r>
              <a:rPr sz="3600" b="1">
                <a:latin typeface="Chamberi Super Display"/>
                <a:ea typeface="+mj-ea"/>
                <a:cs typeface="Biome"/>
              </a:rPr>
              <a:t>Flight Delay Prediction </a:t>
            </a:r>
            <a:r>
              <a:rPr lang="en-US" sz="3600" b="1">
                <a:latin typeface="Chamberi Super Display"/>
                <a:ea typeface="+mj-ea"/>
                <a:cs typeface="Biome"/>
              </a:rPr>
              <a:t>– System Diagram</a:t>
            </a:r>
          </a:p>
        </p:txBody>
      </p:sp>
      <p:sp>
        <p:nvSpPr>
          <p:cNvPr id="7" name="Rounded Rectangle 2">
            <a:extLst>
              <a:ext uri="{FF2B5EF4-FFF2-40B4-BE49-F238E27FC236}">
                <a16:creationId xmlns:a16="http://schemas.microsoft.com/office/drawing/2014/main" id="{02763F61-0D74-31DF-E9CC-41D2500649D3}"/>
              </a:ext>
            </a:extLst>
          </p:cNvPr>
          <p:cNvSpPr/>
          <p:nvPr/>
        </p:nvSpPr>
        <p:spPr>
          <a:xfrm>
            <a:off x="229056" y="1234440"/>
            <a:ext cx="1131171" cy="1268559"/>
          </a:xfrm>
          <a:prstGeom prst="roundRect">
            <a:avLst/>
          </a:prstGeom>
          <a:solidFill>
            <a:srgbClr val="E2EFFC"/>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300" b="1">
                <a:solidFill>
                  <a:srgbClr val="192332"/>
                </a:solidFill>
                <a:latin typeface="Aptos"/>
              </a:defRPr>
            </a:pPr>
            <a:r>
              <a:rPr lang="en-US"/>
              <a:t>Raw</a:t>
            </a:r>
            <a:r>
              <a:t> Data</a:t>
            </a:r>
          </a:p>
          <a:p>
            <a:pPr algn="ctr">
              <a:spcBef>
                <a:spcPts val="400"/>
              </a:spcBef>
              <a:defRPr sz="950">
                <a:solidFill>
                  <a:srgbClr val="192332"/>
                </a:solidFill>
                <a:latin typeface="Aptos"/>
              </a:defRPr>
            </a:pPr>
            <a:r>
              <a:t>Flight records</a:t>
            </a:r>
          </a:p>
        </p:txBody>
      </p:sp>
      <p:sp>
        <p:nvSpPr>
          <p:cNvPr id="9" name="Rounded Rectangle 3">
            <a:extLst>
              <a:ext uri="{FF2B5EF4-FFF2-40B4-BE49-F238E27FC236}">
                <a16:creationId xmlns:a16="http://schemas.microsoft.com/office/drawing/2014/main" id="{5C27D7D0-1E34-8665-B0B9-9F5CDA5AF8C8}"/>
              </a:ext>
            </a:extLst>
          </p:cNvPr>
          <p:cNvSpPr/>
          <p:nvPr/>
        </p:nvSpPr>
        <p:spPr>
          <a:xfrm>
            <a:off x="1531962" y="1234440"/>
            <a:ext cx="1245357" cy="1268559"/>
          </a:xfrm>
          <a:prstGeom prst="roundRect">
            <a:avLst/>
          </a:prstGeom>
          <a:solidFill>
            <a:srgbClr val="E2F4E8"/>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300" b="1">
                <a:solidFill>
                  <a:srgbClr val="192332"/>
                </a:solidFill>
                <a:latin typeface="Aptos"/>
              </a:defRPr>
            </a:pPr>
            <a:r>
              <a:t>Data Preparation</a:t>
            </a:r>
          </a:p>
          <a:p>
            <a:pPr algn="ctr">
              <a:spcBef>
                <a:spcPts val="400"/>
              </a:spcBef>
              <a:defRPr sz="950">
                <a:solidFill>
                  <a:srgbClr val="192332"/>
                </a:solidFill>
                <a:latin typeface="Aptos"/>
              </a:defRPr>
            </a:pPr>
            <a:r>
              <a:t>Clean, filter &amp;</a:t>
            </a:r>
            <a:br>
              <a:rPr/>
            </a:br>
            <a:r>
              <a:t>engineer features</a:t>
            </a:r>
          </a:p>
        </p:txBody>
      </p:sp>
      <p:sp>
        <p:nvSpPr>
          <p:cNvPr id="11" name="Rounded Rectangle 4">
            <a:extLst>
              <a:ext uri="{FF2B5EF4-FFF2-40B4-BE49-F238E27FC236}">
                <a16:creationId xmlns:a16="http://schemas.microsoft.com/office/drawing/2014/main" id="{FDDCBF45-09EA-B113-518C-9C7108CCEF8A}"/>
              </a:ext>
            </a:extLst>
          </p:cNvPr>
          <p:cNvSpPr/>
          <p:nvPr/>
        </p:nvSpPr>
        <p:spPr>
          <a:xfrm>
            <a:off x="2971800" y="1234440"/>
            <a:ext cx="1143000" cy="1234440"/>
          </a:xfrm>
          <a:prstGeom prst="roundRect">
            <a:avLst/>
          </a:prstGeom>
          <a:solidFill>
            <a:srgbClr val="EDE8FB"/>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300" b="1">
                <a:solidFill>
                  <a:srgbClr val="192332"/>
                </a:solidFill>
                <a:latin typeface="Aptos"/>
              </a:defRPr>
            </a:pPr>
            <a:r>
              <a:t>Processed Dataset</a:t>
            </a:r>
          </a:p>
          <a:p>
            <a:pPr algn="ctr">
              <a:spcBef>
                <a:spcPts val="400"/>
              </a:spcBef>
              <a:defRPr sz="950">
                <a:solidFill>
                  <a:srgbClr val="192332"/>
                </a:solidFill>
                <a:latin typeface="Aptos"/>
              </a:defRPr>
            </a:pPr>
            <a:r>
              <a:t>Model-ready</a:t>
            </a:r>
            <a:br>
              <a:rPr/>
            </a:br>
            <a:r>
              <a:t>features + target</a:t>
            </a:r>
          </a:p>
        </p:txBody>
      </p:sp>
      <p:sp>
        <p:nvSpPr>
          <p:cNvPr id="13" name="Rounded Rectangle 5">
            <a:extLst>
              <a:ext uri="{FF2B5EF4-FFF2-40B4-BE49-F238E27FC236}">
                <a16:creationId xmlns:a16="http://schemas.microsoft.com/office/drawing/2014/main" id="{F33D3EC8-9F61-E82E-1951-B203379CD447}"/>
              </a:ext>
            </a:extLst>
          </p:cNvPr>
          <p:cNvSpPr/>
          <p:nvPr/>
        </p:nvSpPr>
        <p:spPr>
          <a:xfrm>
            <a:off x="4320654" y="1234440"/>
            <a:ext cx="1874519" cy="1234440"/>
          </a:xfrm>
          <a:prstGeom prst="roundRect">
            <a:avLst/>
          </a:prstGeom>
          <a:solidFill>
            <a:srgbClr val="FCEDDC"/>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400" b="1">
                <a:solidFill>
                  <a:srgbClr val="192332"/>
                </a:solidFill>
                <a:latin typeface="Aptos"/>
              </a:defRPr>
            </a:pPr>
            <a:r>
              <a:rPr lang="en-US"/>
              <a:t>Train</a:t>
            </a:r>
            <a:r>
              <a:t> Models</a:t>
            </a:r>
          </a:p>
          <a:p>
            <a:pPr algn="ctr">
              <a:spcBef>
                <a:spcPts val="400"/>
              </a:spcBef>
              <a:defRPr sz="950">
                <a:solidFill>
                  <a:srgbClr val="192332"/>
                </a:solidFill>
                <a:latin typeface="Aptos"/>
              </a:defRPr>
            </a:pPr>
            <a:r>
              <a:t>Logistic Regression</a:t>
            </a:r>
            <a:br>
              <a:rPr/>
            </a:br>
            <a:r>
              <a:t>Random Forest</a:t>
            </a:r>
          </a:p>
        </p:txBody>
      </p:sp>
      <p:sp>
        <p:nvSpPr>
          <p:cNvPr id="15" name="Rounded Rectangle 6">
            <a:extLst>
              <a:ext uri="{FF2B5EF4-FFF2-40B4-BE49-F238E27FC236}">
                <a16:creationId xmlns:a16="http://schemas.microsoft.com/office/drawing/2014/main" id="{9D0608E5-3E91-416C-E3BD-FA4A64459171}"/>
              </a:ext>
            </a:extLst>
          </p:cNvPr>
          <p:cNvSpPr/>
          <p:nvPr/>
        </p:nvSpPr>
        <p:spPr>
          <a:xfrm>
            <a:off x="6389655" y="1234440"/>
            <a:ext cx="1143000" cy="1234440"/>
          </a:xfrm>
          <a:prstGeom prst="roundRect">
            <a:avLst/>
          </a:prstGeom>
          <a:solidFill>
            <a:srgbClr val="E2EFFC"/>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300" b="1">
                <a:solidFill>
                  <a:srgbClr val="192332"/>
                </a:solidFill>
                <a:latin typeface="Aptos"/>
              </a:defRPr>
            </a:pPr>
            <a:r>
              <a:rPr lang="en-US" err="1"/>
              <a:t>MLflow</a:t>
            </a:r>
          </a:p>
          <a:p>
            <a:pPr algn="ctr">
              <a:spcBef>
                <a:spcPts val="400"/>
              </a:spcBef>
              <a:defRPr sz="950">
                <a:solidFill>
                  <a:srgbClr val="192332"/>
                </a:solidFill>
                <a:latin typeface="Aptos"/>
              </a:defRPr>
            </a:pPr>
            <a:r>
              <a:t>Track experiments</a:t>
            </a:r>
          </a:p>
        </p:txBody>
      </p:sp>
      <p:sp>
        <p:nvSpPr>
          <p:cNvPr id="17" name="Rounded Rectangle 7">
            <a:extLst>
              <a:ext uri="{FF2B5EF4-FFF2-40B4-BE49-F238E27FC236}">
                <a16:creationId xmlns:a16="http://schemas.microsoft.com/office/drawing/2014/main" id="{36354F03-2FBF-D02E-BCE3-EE858CB7BCB0}"/>
              </a:ext>
            </a:extLst>
          </p:cNvPr>
          <p:cNvSpPr/>
          <p:nvPr/>
        </p:nvSpPr>
        <p:spPr>
          <a:xfrm>
            <a:off x="7727135" y="1234440"/>
            <a:ext cx="1233984" cy="1268559"/>
          </a:xfrm>
          <a:prstGeom prst="roundRect">
            <a:avLst/>
          </a:prstGeom>
          <a:solidFill>
            <a:srgbClr val="FCF6DB"/>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300" b="1">
                <a:solidFill>
                  <a:srgbClr val="192332"/>
                </a:solidFill>
                <a:latin typeface="Aptos"/>
              </a:defRPr>
            </a:pPr>
            <a:r>
              <a:rPr lang="en-US"/>
              <a:t>Model</a:t>
            </a:r>
            <a:r>
              <a:t> Comparison</a:t>
            </a:r>
          </a:p>
          <a:p>
            <a:pPr algn="ctr">
              <a:spcBef>
                <a:spcPts val="400"/>
              </a:spcBef>
              <a:defRPr sz="950">
                <a:solidFill>
                  <a:srgbClr val="192332"/>
                </a:solidFill>
                <a:latin typeface="Aptos"/>
              </a:defRPr>
            </a:pPr>
            <a:r>
              <a:t>Compare model</a:t>
            </a:r>
            <a:br>
              <a:rPr/>
            </a:br>
            <a:r>
              <a:t>performance</a:t>
            </a:r>
          </a:p>
        </p:txBody>
      </p:sp>
      <p:sp>
        <p:nvSpPr>
          <p:cNvPr id="19" name="Rounded Rectangle 8">
            <a:extLst>
              <a:ext uri="{FF2B5EF4-FFF2-40B4-BE49-F238E27FC236}">
                <a16:creationId xmlns:a16="http://schemas.microsoft.com/office/drawing/2014/main" id="{683C6D50-781E-B8D7-16B2-C9FEB2221297}"/>
              </a:ext>
            </a:extLst>
          </p:cNvPr>
          <p:cNvSpPr/>
          <p:nvPr/>
        </p:nvSpPr>
        <p:spPr>
          <a:xfrm>
            <a:off x="9189720" y="1234440"/>
            <a:ext cx="1051560" cy="1234440"/>
          </a:xfrm>
          <a:prstGeom prst="roundRect">
            <a:avLst/>
          </a:prstGeom>
          <a:solidFill>
            <a:srgbClr val="E2F4E8"/>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300" b="1">
                <a:solidFill>
                  <a:srgbClr val="192332"/>
                </a:solidFill>
                <a:latin typeface="Aptos"/>
              </a:defRPr>
            </a:pPr>
            <a:r>
              <a:rPr lang="en-US"/>
              <a:t>Select</a:t>
            </a:r>
            <a:r>
              <a:t> Model</a:t>
            </a:r>
          </a:p>
          <a:p>
            <a:pPr algn="ctr">
              <a:spcBef>
                <a:spcPts val="400"/>
              </a:spcBef>
              <a:defRPr sz="950">
                <a:solidFill>
                  <a:srgbClr val="192332"/>
                </a:solidFill>
                <a:latin typeface="Aptos"/>
              </a:defRPr>
            </a:pPr>
            <a:r>
              <a:t>Choose model for</a:t>
            </a:r>
            <a:br>
              <a:rPr/>
            </a:br>
            <a:r>
              <a:t>prediction</a:t>
            </a:r>
          </a:p>
        </p:txBody>
      </p:sp>
      <p:sp>
        <p:nvSpPr>
          <p:cNvPr id="21" name="Rounded Rectangle 9">
            <a:extLst>
              <a:ext uri="{FF2B5EF4-FFF2-40B4-BE49-F238E27FC236}">
                <a16:creationId xmlns:a16="http://schemas.microsoft.com/office/drawing/2014/main" id="{5260BD81-4834-C544-9D0E-7819FB5FE8B2}"/>
              </a:ext>
            </a:extLst>
          </p:cNvPr>
          <p:cNvSpPr/>
          <p:nvPr/>
        </p:nvSpPr>
        <p:spPr>
          <a:xfrm>
            <a:off x="10390041" y="1234440"/>
            <a:ext cx="1654335" cy="1268559"/>
          </a:xfrm>
          <a:prstGeom prst="roundRect">
            <a:avLst/>
          </a:prstGeom>
          <a:solidFill>
            <a:srgbClr val="EDE8FB"/>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lIns="91440" tIns="109728" rIns="91440" bIns="73152" rtlCol="0" anchor="ctr"/>
          <a:lstStyle/>
          <a:p>
            <a:pPr algn="ctr">
              <a:defRPr sz="1300" b="1">
                <a:solidFill>
                  <a:srgbClr val="192332"/>
                </a:solidFill>
                <a:latin typeface="Aptos"/>
              </a:defRPr>
            </a:pPr>
            <a:r>
              <a:rPr lang="en-US"/>
              <a:t>Predictions</a:t>
            </a:r>
            <a:endParaRPr/>
          </a:p>
          <a:p>
            <a:pPr algn="ctr">
              <a:spcBef>
                <a:spcPts val="400"/>
              </a:spcBef>
              <a:defRPr sz="950">
                <a:solidFill>
                  <a:srgbClr val="192332"/>
                </a:solidFill>
                <a:latin typeface="Aptos"/>
              </a:defRPr>
            </a:pPr>
            <a:r>
              <a:t>Delay probability</a:t>
            </a:r>
            <a:br>
              <a:rPr/>
            </a:br>
            <a:r>
              <a:t>+ class</a:t>
            </a:r>
          </a:p>
        </p:txBody>
      </p:sp>
      <p:cxnSp>
        <p:nvCxnSpPr>
          <p:cNvPr id="23" name="Connector 10">
            <a:extLst>
              <a:ext uri="{FF2B5EF4-FFF2-40B4-BE49-F238E27FC236}">
                <a16:creationId xmlns:a16="http://schemas.microsoft.com/office/drawing/2014/main" id="{B898819E-F9D0-FC88-4364-8B8B06CBEA0B}"/>
              </a:ext>
            </a:extLst>
          </p:cNvPr>
          <p:cNvCxnSpPr/>
          <p:nvPr/>
        </p:nvCxnSpPr>
        <p:spPr>
          <a:xfrm>
            <a:off x="1364913" y="1851660"/>
            <a:ext cx="173736" cy="0"/>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cxnSp>
        <p:nvCxnSpPr>
          <p:cNvPr id="25" name="Connector 11">
            <a:extLst>
              <a:ext uri="{FF2B5EF4-FFF2-40B4-BE49-F238E27FC236}">
                <a16:creationId xmlns:a16="http://schemas.microsoft.com/office/drawing/2014/main" id="{3DDBD934-ED8C-CCA1-7743-D8174E7E2479}"/>
              </a:ext>
            </a:extLst>
          </p:cNvPr>
          <p:cNvCxnSpPr/>
          <p:nvPr/>
        </p:nvCxnSpPr>
        <p:spPr>
          <a:xfrm>
            <a:off x="2782005" y="1851660"/>
            <a:ext cx="173736" cy="0"/>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cxnSp>
        <p:nvCxnSpPr>
          <p:cNvPr id="27" name="Connector 12">
            <a:extLst>
              <a:ext uri="{FF2B5EF4-FFF2-40B4-BE49-F238E27FC236}">
                <a16:creationId xmlns:a16="http://schemas.microsoft.com/office/drawing/2014/main" id="{8D27010D-9326-64BD-BC9C-03B461D79810}"/>
              </a:ext>
            </a:extLst>
          </p:cNvPr>
          <p:cNvCxnSpPr/>
          <p:nvPr/>
        </p:nvCxnSpPr>
        <p:spPr>
          <a:xfrm>
            <a:off x="4142232" y="1851660"/>
            <a:ext cx="173736" cy="0"/>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cxnSp>
        <p:nvCxnSpPr>
          <p:cNvPr id="29" name="Connector 13">
            <a:extLst>
              <a:ext uri="{FF2B5EF4-FFF2-40B4-BE49-F238E27FC236}">
                <a16:creationId xmlns:a16="http://schemas.microsoft.com/office/drawing/2014/main" id="{72DC6553-BF39-57BE-1C17-4EB47E02EA43}"/>
              </a:ext>
            </a:extLst>
          </p:cNvPr>
          <p:cNvCxnSpPr/>
          <p:nvPr/>
        </p:nvCxnSpPr>
        <p:spPr>
          <a:xfrm>
            <a:off x="6211232" y="1851660"/>
            <a:ext cx="173737" cy="0"/>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cxnSp>
        <p:nvCxnSpPr>
          <p:cNvPr id="31" name="Connector 14">
            <a:extLst>
              <a:ext uri="{FF2B5EF4-FFF2-40B4-BE49-F238E27FC236}">
                <a16:creationId xmlns:a16="http://schemas.microsoft.com/office/drawing/2014/main" id="{6E0E68C0-928F-D572-A538-412DC4B45610}"/>
              </a:ext>
            </a:extLst>
          </p:cNvPr>
          <p:cNvCxnSpPr/>
          <p:nvPr/>
        </p:nvCxnSpPr>
        <p:spPr>
          <a:xfrm>
            <a:off x="7548713" y="1851660"/>
            <a:ext cx="173736" cy="0"/>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cxnSp>
        <p:nvCxnSpPr>
          <p:cNvPr id="33" name="Connector 15">
            <a:extLst>
              <a:ext uri="{FF2B5EF4-FFF2-40B4-BE49-F238E27FC236}">
                <a16:creationId xmlns:a16="http://schemas.microsoft.com/office/drawing/2014/main" id="{E2F21E40-E88D-C8BE-10BD-D28903E22EF9}"/>
              </a:ext>
            </a:extLst>
          </p:cNvPr>
          <p:cNvCxnSpPr/>
          <p:nvPr/>
        </p:nvCxnSpPr>
        <p:spPr>
          <a:xfrm>
            <a:off x="8988552" y="1851660"/>
            <a:ext cx="173736" cy="0"/>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cxnSp>
        <p:nvCxnSpPr>
          <p:cNvPr id="35" name="Connector 16">
            <a:extLst>
              <a:ext uri="{FF2B5EF4-FFF2-40B4-BE49-F238E27FC236}">
                <a16:creationId xmlns:a16="http://schemas.microsoft.com/office/drawing/2014/main" id="{F7A66DEA-31E9-6F2C-A892-43FC7BF97419}"/>
              </a:ext>
            </a:extLst>
          </p:cNvPr>
          <p:cNvCxnSpPr/>
          <p:nvPr/>
        </p:nvCxnSpPr>
        <p:spPr>
          <a:xfrm>
            <a:off x="10268712" y="1851660"/>
            <a:ext cx="128016" cy="0"/>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sp>
        <p:nvSpPr>
          <p:cNvPr id="37" name="Rounded Rectangle 17">
            <a:extLst>
              <a:ext uri="{FF2B5EF4-FFF2-40B4-BE49-F238E27FC236}">
                <a16:creationId xmlns:a16="http://schemas.microsoft.com/office/drawing/2014/main" id="{26219D7B-D335-66BB-8035-03585156886D}"/>
              </a:ext>
            </a:extLst>
          </p:cNvPr>
          <p:cNvSpPr/>
          <p:nvPr/>
        </p:nvSpPr>
        <p:spPr>
          <a:xfrm>
            <a:off x="10319755" y="4535242"/>
            <a:ext cx="1783080" cy="1005840"/>
          </a:xfrm>
          <a:prstGeom prst="roundRect">
            <a:avLst/>
          </a:prstGeom>
          <a:solidFill>
            <a:srgbClr val="FDE6E8"/>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tIns="109728" bIns="73152" rtlCol="0" anchor="ctr"/>
          <a:lstStyle/>
          <a:p>
            <a:pPr algn="ctr">
              <a:defRPr sz="1300" b="1">
                <a:solidFill>
                  <a:srgbClr val="192332"/>
                </a:solidFill>
                <a:latin typeface="Aptos"/>
              </a:defRPr>
            </a:pPr>
            <a:r>
              <a:t>9. Deploy to Streamlit</a:t>
            </a:r>
          </a:p>
          <a:p>
            <a:pPr algn="ctr">
              <a:spcBef>
                <a:spcPts val="400"/>
              </a:spcBef>
              <a:defRPr sz="950">
                <a:solidFill>
                  <a:srgbClr val="192332"/>
                </a:solidFill>
                <a:latin typeface="Aptos"/>
              </a:defRPr>
            </a:pPr>
            <a:r>
              <a:t>Interactive web app</a:t>
            </a:r>
          </a:p>
        </p:txBody>
      </p:sp>
      <p:cxnSp>
        <p:nvCxnSpPr>
          <p:cNvPr id="39" name="Connector 18">
            <a:extLst>
              <a:ext uri="{FF2B5EF4-FFF2-40B4-BE49-F238E27FC236}">
                <a16:creationId xmlns:a16="http://schemas.microsoft.com/office/drawing/2014/main" id="{A9DEE7DE-6E92-AA1D-91CC-BA3576C491E7}"/>
              </a:ext>
            </a:extLst>
          </p:cNvPr>
          <p:cNvCxnSpPr/>
          <p:nvPr/>
        </p:nvCxnSpPr>
        <p:spPr>
          <a:xfrm>
            <a:off x="11268388" y="2496312"/>
            <a:ext cx="0" cy="2029968"/>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sp>
        <p:nvSpPr>
          <p:cNvPr id="43" name="Rounded Rectangle 20">
            <a:extLst>
              <a:ext uri="{FF2B5EF4-FFF2-40B4-BE49-F238E27FC236}">
                <a16:creationId xmlns:a16="http://schemas.microsoft.com/office/drawing/2014/main" id="{C41520ED-1931-AE63-5005-A16CD3ADEE72}"/>
              </a:ext>
            </a:extLst>
          </p:cNvPr>
          <p:cNvSpPr/>
          <p:nvPr/>
        </p:nvSpPr>
        <p:spPr>
          <a:xfrm>
            <a:off x="4892040" y="3040494"/>
            <a:ext cx="4274706" cy="1682997"/>
          </a:xfrm>
          <a:prstGeom prst="roundRect">
            <a:avLst/>
          </a:prstGeom>
          <a:solidFill>
            <a:srgbClr val="F1F7FD"/>
          </a:solidFill>
          <a:ln w="16510">
            <a:solidFill>
              <a:srgbClr val="4687C8"/>
            </a:solidFill>
          </a:ln>
        </p:spPr>
        <p:style>
          <a:lnRef idx="1">
            <a:schemeClr val="accent1"/>
          </a:lnRef>
          <a:fillRef idx="3">
            <a:schemeClr val="accent1"/>
          </a:fillRef>
          <a:effectRef idx="2">
            <a:schemeClr val="accent1"/>
          </a:effectRef>
          <a:fontRef idx="minor">
            <a:schemeClr val="lt1"/>
          </a:fontRef>
        </p:style>
        <p:txBody>
          <a:bodyPr lIns="91440" tIns="109728" rIns="91440" bIns="45720" rtlCol="0" anchor="ctr"/>
          <a:lstStyle/>
          <a:p>
            <a:pPr algn="ctr">
              <a:defRPr sz="1600" b="1">
                <a:solidFill>
                  <a:srgbClr val="192332"/>
                </a:solidFill>
                <a:latin typeface="Aptos"/>
              </a:defRPr>
            </a:pPr>
            <a:endParaRPr lang="en-US"/>
          </a:p>
        </p:txBody>
      </p:sp>
      <p:sp>
        <p:nvSpPr>
          <p:cNvPr id="45" name="Rounded Rectangle 21">
            <a:extLst>
              <a:ext uri="{FF2B5EF4-FFF2-40B4-BE49-F238E27FC236}">
                <a16:creationId xmlns:a16="http://schemas.microsoft.com/office/drawing/2014/main" id="{54DFB474-7CA9-3DB3-38D1-A4AEE2B38634}"/>
              </a:ext>
            </a:extLst>
          </p:cNvPr>
          <p:cNvSpPr/>
          <p:nvPr/>
        </p:nvSpPr>
        <p:spPr>
          <a:xfrm>
            <a:off x="5074920" y="3191529"/>
            <a:ext cx="1874519" cy="603504"/>
          </a:xfrm>
          <a:prstGeom prst="roundRect">
            <a:avLst/>
          </a:prstGeom>
          <a:solidFill>
            <a:srgbClr val="FAFCFF"/>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tIns="109728" bIns="73152" rtlCol="0" anchor="ctr"/>
          <a:lstStyle/>
          <a:p>
            <a:pPr algn="ctr">
              <a:defRPr sz="1100" b="1">
                <a:solidFill>
                  <a:srgbClr val="192332"/>
                </a:solidFill>
                <a:latin typeface="Aptos"/>
              </a:defRPr>
            </a:pPr>
            <a:r>
              <a:t>Parameters</a:t>
            </a:r>
          </a:p>
          <a:p>
            <a:pPr algn="ctr">
              <a:spcBef>
                <a:spcPts val="400"/>
              </a:spcBef>
              <a:defRPr sz="770">
                <a:solidFill>
                  <a:srgbClr val="192332"/>
                </a:solidFill>
                <a:latin typeface="Aptos"/>
              </a:defRPr>
            </a:pPr>
            <a:r>
              <a:t>Model settings &amp; feature details</a:t>
            </a:r>
          </a:p>
        </p:txBody>
      </p:sp>
      <p:sp>
        <p:nvSpPr>
          <p:cNvPr id="47" name="Rounded Rectangle 22">
            <a:extLst>
              <a:ext uri="{FF2B5EF4-FFF2-40B4-BE49-F238E27FC236}">
                <a16:creationId xmlns:a16="http://schemas.microsoft.com/office/drawing/2014/main" id="{12C331DC-3A26-14E6-E9B8-DD8CEA61F232}"/>
              </a:ext>
            </a:extLst>
          </p:cNvPr>
          <p:cNvSpPr/>
          <p:nvPr/>
        </p:nvSpPr>
        <p:spPr>
          <a:xfrm>
            <a:off x="7086600" y="3191529"/>
            <a:ext cx="1874519" cy="603504"/>
          </a:xfrm>
          <a:prstGeom prst="roundRect">
            <a:avLst/>
          </a:prstGeom>
          <a:solidFill>
            <a:srgbClr val="FAFCFF"/>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tIns="109728" bIns="73152" rtlCol="0" anchor="ctr"/>
          <a:lstStyle/>
          <a:p>
            <a:pPr algn="ctr">
              <a:defRPr sz="1100" b="1">
                <a:solidFill>
                  <a:srgbClr val="192332"/>
                </a:solidFill>
                <a:latin typeface="Aptos"/>
              </a:defRPr>
            </a:pPr>
            <a:r>
              <a:t>Metrics</a:t>
            </a:r>
          </a:p>
          <a:p>
            <a:pPr algn="ctr">
              <a:spcBef>
                <a:spcPts val="400"/>
              </a:spcBef>
              <a:defRPr sz="770">
                <a:solidFill>
                  <a:srgbClr val="192332"/>
                </a:solidFill>
                <a:latin typeface="Aptos"/>
              </a:defRPr>
            </a:pPr>
            <a:r>
              <a:t>Accuracy, Precision, Recall, F1, ROC-AUC</a:t>
            </a:r>
          </a:p>
        </p:txBody>
      </p:sp>
      <p:sp>
        <p:nvSpPr>
          <p:cNvPr id="49" name="Rounded Rectangle 23">
            <a:extLst>
              <a:ext uri="{FF2B5EF4-FFF2-40B4-BE49-F238E27FC236}">
                <a16:creationId xmlns:a16="http://schemas.microsoft.com/office/drawing/2014/main" id="{3D15EF16-C01B-C63F-AEDD-CA47188AF91D}"/>
              </a:ext>
            </a:extLst>
          </p:cNvPr>
          <p:cNvSpPr/>
          <p:nvPr/>
        </p:nvSpPr>
        <p:spPr>
          <a:xfrm>
            <a:off x="5074920" y="3950481"/>
            <a:ext cx="1874519" cy="603504"/>
          </a:xfrm>
          <a:prstGeom prst="roundRect">
            <a:avLst/>
          </a:prstGeom>
          <a:solidFill>
            <a:srgbClr val="FAFCFF"/>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tIns="109728" bIns="73152" rtlCol="0" anchor="ctr"/>
          <a:lstStyle/>
          <a:p>
            <a:pPr algn="ctr">
              <a:defRPr sz="1100" b="1">
                <a:solidFill>
                  <a:srgbClr val="192332"/>
                </a:solidFill>
                <a:latin typeface="Aptos"/>
              </a:defRPr>
            </a:pPr>
            <a:r>
              <a:t>Models</a:t>
            </a:r>
          </a:p>
          <a:p>
            <a:pPr algn="ctr">
              <a:spcBef>
                <a:spcPts val="400"/>
              </a:spcBef>
              <a:defRPr sz="770">
                <a:solidFill>
                  <a:srgbClr val="192332"/>
                </a:solidFill>
                <a:latin typeface="Aptos"/>
              </a:defRPr>
            </a:pPr>
            <a:r>
              <a:t>Saved model files &amp; artifacts</a:t>
            </a:r>
          </a:p>
        </p:txBody>
      </p:sp>
      <p:sp>
        <p:nvSpPr>
          <p:cNvPr id="51" name="Rounded Rectangle 24">
            <a:extLst>
              <a:ext uri="{FF2B5EF4-FFF2-40B4-BE49-F238E27FC236}">
                <a16:creationId xmlns:a16="http://schemas.microsoft.com/office/drawing/2014/main" id="{14434E80-8946-716E-412D-F86D77C0212A}"/>
              </a:ext>
            </a:extLst>
          </p:cNvPr>
          <p:cNvSpPr/>
          <p:nvPr/>
        </p:nvSpPr>
        <p:spPr>
          <a:xfrm>
            <a:off x="7086600" y="3950481"/>
            <a:ext cx="1874519" cy="603504"/>
          </a:xfrm>
          <a:prstGeom prst="roundRect">
            <a:avLst/>
          </a:prstGeom>
          <a:solidFill>
            <a:srgbClr val="FAFCFF"/>
          </a:solidFill>
          <a:ln w="15240">
            <a:solidFill>
              <a:srgbClr val="50677D"/>
            </a:solidFill>
          </a:ln>
        </p:spPr>
        <p:style>
          <a:lnRef idx="1">
            <a:schemeClr val="accent1"/>
          </a:lnRef>
          <a:fillRef idx="3">
            <a:schemeClr val="accent1"/>
          </a:fillRef>
          <a:effectRef idx="2">
            <a:schemeClr val="accent1"/>
          </a:effectRef>
          <a:fontRef idx="minor">
            <a:schemeClr val="lt1"/>
          </a:fontRef>
        </p:style>
        <p:txBody>
          <a:bodyPr tIns="109728" bIns="73152" rtlCol="0" anchor="ctr"/>
          <a:lstStyle/>
          <a:p>
            <a:pPr algn="ctr">
              <a:defRPr sz="1100" b="1">
                <a:solidFill>
                  <a:srgbClr val="192332"/>
                </a:solidFill>
                <a:latin typeface="Aptos"/>
              </a:defRPr>
            </a:pPr>
            <a:r>
              <a:t>Runs</a:t>
            </a:r>
          </a:p>
          <a:p>
            <a:pPr algn="ctr">
              <a:spcBef>
                <a:spcPts val="400"/>
              </a:spcBef>
              <a:defRPr sz="770">
                <a:solidFill>
                  <a:srgbClr val="192332"/>
                </a:solidFill>
                <a:latin typeface="Aptos"/>
              </a:defRPr>
            </a:pPr>
            <a:r>
              <a:t>Compare experiments over time</a:t>
            </a:r>
          </a:p>
        </p:txBody>
      </p:sp>
      <p:cxnSp>
        <p:nvCxnSpPr>
          <p:cNvPr id="53" name="Connector 25">
            <a:extLst>
              <a:ext uri="{FF2B5EF4-FFF2-40B4-BE49-F238E27FC236}">
                <a16:creationId xmlns:a16="http://schemas.microsoft.com/office/drawing/2014/main" id="{D075F2CE-233D-DFDA-166D-42AC9B20BB6C}"/>
              </a:ext>
            </a:extLst>
          </p:cNvPr>
          <p:cNvCxnSpPr/>
          <p:nvPr/>
        </p:nvCxnSpPr>
        <p:spPr>
          <a:xfrm>
            <a:off x="7018020" y="2496312"/>
            <a:ext cx="0" cy="539496"/>
          </a:xfrm>
          <a:prstGeom prst="line">
            <a:avLst/>
          </a:prstGeom>
          <a:ln w="25400">
            <a:solidFill>
              <a:srgbClr val="374B5F"/>
            </a:solidFill>
          </a:ln>
        </p:spPr>
        <p:style>
          <a:lnRef idx="2">
            <a:schemeClr val="accent1"/>
          </a:lnRef>
          <a:fillRef idx="0">
            <a:schemeClr val="accent1"/>
          </a:fillRef>
          <a:effectRef idx="1">
            <a:schemeClr val="accent1"/>
          </a:effectRef>
          <a:fontRef idx="minor">
            <a:schemeClr val="tx1"/>
          </a:fontRef>
        </p:style>
      </p:cxnSp>
      <p:sp>
        <p:nvSpPr>
          <p:cNvPr id="61" name="Rounded Rectangle 29">
            <a:extLst>
              <a:ext uri="{FF2B5EF4-FFF2-40B4-BE49-F238E27FC236}">
                <a16:creationId xmlns:a16="http://schemas.microsoft.com/office/drawing/2014/main" id="{E7F3E821-C970-7E08-D2EE-B71C61E23C7F}"/>
              </a:ext>
            </a:extLst>
          </p:cNvPr>
          <p:cNvSpPr/>
          <p:nvPr/>
        </p:nvSpPr>
        <p:spPr>
          <a:xfrm>
            <a:off x="502920" y="5533485"/>
            <a:ext cx="4488976" cy="912807"/>
          </a:xfrm>
          <a:prstGeom prst="roundRect">
            <a:avLst/>
          </a:prstGeom>
          <a:solidFill>
            <a:srgbClr val="F5F7F9"/>
          </a:solidFill>
          <a:ln>
            <a:solidFill>
              <a:srgbClr val="50677D"/>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300" b="1">
                <a:solidFill>
                  <a:srgbClr val="192332"/>
                </a:solidFill>
                <a:latin typeface="Aptos"/>
              </a:defRPr>
            </a:pPr>
            <a:r>
              <a:rPr sz="2000"/>
              <a:t> Iterate &amp; Improve</a:t>
            </a:r>
            <a:endParaRPr lang="en-US" sz="2000"/>
          </a:p>
          <a:p>
            <a:pPr algn="ctr">
              <a:defRPr sz="850">
                <a:solidFill>
                  <a:srgbClr val="192332"/>
                </a:solidFill>
                <a:latin typeface="Aptos"/>
              </a:defRPr>
            </a:pPr>
            <a:r>
              <a:rPr sz="1100"/>
              <a:t>Try more data, features, models, and parameters</a:t>
            </a:r>
          </a:p>
        </p:txBody>
      </p:sp>
    </p:spTree>
    <p:extLst>
      <p:ext uri="{BB962C8B-B14F-4D97-AF65-F5344CB8AC3E}">
        <p14:creationId xmlns:p14="http://schemas.microsoft.com/office/powerpoint/2010/main" val="1226128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A8887-903B-2F66-55F8-963370F68B70}"/>
              </a:ext>
            </a:extLst>
          </p:cNvPr>
          <p:cNvSpPr>
            <a:spLocks noGrp="1"/>
          </p:cNvSpPr>
          <p:nvPr>
            <p:ph type="title"/>
          </p:nvPr>
        </p:nvSpPr>
        <p:spPr>
          <a:xfrm>
            <a:off x="457200" y="490128"/>
            <a:ext cx="11277599" cy="914400"/>
          </a:xfrm>
        </p:spPr>
        <p:txBody>
          <a:bodyPr>
            <a:normAutofit/>
          </a:bodyPr>
          <a:lstStyle/>
          <a:p>
            <a:r>
              <a:rPr lang="en-US" b="1"/>
              <a:t>Data Pipeline</a:t>
            </a:r>
          </a:p>
        </p:txBody>
      </p:sp>
      <p:pic>
        <p:nvPicPr>
          <p:cNvPr id="6" name="MicrosoftTeams-video">
            <a:hlinkClick r:id="" action="ppaction://media"/>
            <a:extLst>
              <a:ext uri="{FF2B5EF4-FFF2-40B4-BE49-F238E27FC236}">
                <a16:creationId xmlns:a16="http://schemas.microsoft.com/office/drawing/2014/main" id="{A3B5A608-1D29-AA14-D11D-897AEAFF3186}"/>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502830" y="1199879"/>
            <a:ext cx="9186339" cy="5167993"/>
          </a:xfrm>
        </p:spPr>
      </p:pic>
    </p:spTree>
    <p:extLst>
      <p:ext uri="{BB962C8B-B14F-4D97-AF65-F5344CB8AC3E}">
        <p14:creationId xmlns:p14="http://schemas.microsoft.com/office/powerpoint/2010/main" val="160483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87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25F28-2BBE-8091-827F-AC8AE9E74BDA}"/>
              </a:ext>
            </a:extLst>
          </p:cNvPr>
          <p:cNvSpPr>
            <a:spLocks noGrp="1"/>
          </p:cNvSpPr>
          <p:nvPr>
            <p:ph type="title"/>
          </p:nvPr>
        </p:nvSpPr>
        <p:spPr>
          <a:xfrm>
            <a:off x="457200" y="457200"/>
            <a:ext cx="11277600" cy="914400"/>
          </a:xfrm>
        </p:spPr>
        <p:txBody>
          <a:bodyPr>
            <a:normAutofit/>
          </a:bodyPr>
          <a:lstStyle/>
          <a:p>
            <a:r>
              <a:rPr lang="en-US" b="1"/>
              <a:t>Model Development &amp; Results – Version 1</a:t>
            </a:r>
          </a:p>
        </p:txBody>
      </p:sp>
      <p:sp>
        <p:nvSpPr>
          <p:cNvPr id="13" name="Text Placeholder 4">
            <a:extLst>
              <a:ext uri="{FF2B5EF4-FFF2-40B4-BE49-F238E27FC236}">
                <a16:creationId xmlns:a16="http://schemas.microsoft.com/office/drawing/2014/main" id="{3C53986D-3E0C-5902-27AF-0D34FA49CD68}"/>
              </a:ext>
            </a:extLst>
          </p:cNvPr>
          <p:cNvSpPr>
            <a:spLocks noGrp="1"/>
          </p:cNvSpPr>
          <p:nvPr>
            <p:ph type="body" sz="quarter" idx="3"/>
          </p:nvPr>
        </p:nvSpPr>
        <p:spPr>
          <a:xfrm>
            <a:off x="6501381" y="1197041"/>
            <a:ext cx="5233417" cy="354858"/>
          </a:xfrm>
        </p:spPr>
        <p:txBody>
          <a:bodyPr/>
          <a:lstStyle/>
          <a:p>
            <a:r>
              <a:rPr lang="en-US"/>
              <a:t>Development of version 1:</a:t>
            </a:r>
          </a:p>
        </p:txBody>
      </p:sp>
      <p:sp>
        <p:nvSpPr>
          <p:cNvPr id="3" name="Content Placeholder 2">
            <a:extLst>
              <a:ext uri="{FF2B5EF4-FFF2-40B4-BE49-F238E27FC236}">
                <a16:creationId xmlns:a16="http://schemas.microsoft.com/office/drawing/2014/main" id="{509D9090-6D56-3568-3C46-FA5B208C1C1A}"/>
              </a:ext>
            </a:extLst>
          </p:cNvPr>
          <p:cNvSpPr>
            <a:spLocks noGrp="1"/>
          </p:cNvSpPr>
          <p:nvPr>
            <p:ph sz="quarter" idx="16"/>
          </p:nvPr>
        </p:nvSpPr>
        <p:spPr>
          <a:xfrm>
            <a:off x="6501092" y="1548581"/>
            <a:ext cx="5245081" cy="3661525"/>
          </a:xfrm>
        </p:spPr>
        <p:txBody>
          <a:bodyPr vert="horz" lIns="91440" tIns="45720" rIns="91440" bIns="45720" rtlCol="0" anchor="t">
            <a:noAutofit/>
          </a:bodyPr>
          <a:lstStyle/>
          <a:p>
            <a:pPr marL="285750" indent="-285750">
              <a:spcAft>
                <a:spcPts val="600"/>
              </a:spcAft>
              <a:buFont typeface="Arial,Sans-Serif"/>
              <a:buChar char="•"/>
            </a:pPr>
            <a:r>
              <a:rPr lang="en-US" sz="1700" b="1"/>
              <a:t>Goal: </a:t>
            </a:r>
            <a:r>
              <a:rPr lang="en-US" sz="1700"/>
              <a:t>Compare baseline/linear approach and Random Forest </a:t>
            </a:r>
          </a:p>
          <a:p>
            <a:pPr marL="285750" indent="-285750">
              <a:spcAft>
                <a:spcPts val="600"/>
              </a:spcAft>
              <a:buFont typeface="Arial"/>
              <a:buChar char="•"/>
            </a:pPr>
            <a:r>
              <a:rPr lang="en-US" sz="1700" b="1"/>
              <a:t>Data: </a:t>
            </a:r>
            <a:r>
              <a:rPr lang="en-US" sz="1700"/>
              <a:t>January 2026 data: 517,222 flights </a:t>
            </a:r>
          </a:p>
          <a:p>
            <a:pPr marL="514350" lvl="1" indent="-285750">
              <a:spcAft>
                <a:spcPts val="600"/>
              </a:spcAft>
              <a:buFont typeface="Courier New"/>
              <a:buChar char="o"/>
            </a:pPr>
            <a:r>
              <a:rPr lang="en-US" sz="1700"/>
              <a:t>Delayed: 20.8% </a:t>
            </a:r>
          </a:p>
          <a:p>
            <a:pPr marL="514350" lvl="1" indent="-285750">
              <a:spcAft>
                <a:spcPts val="600"/>
              </a:spcAft>
              <a:buFont typeface="Courier New"/>
              <a:buChar char="o"/>
            </a:pPr>
            <a:r>
              <a:rPr lang="en-US" sz="1700"/>
              <a:t>Not delayed: 79.2% </a:t>
            </a:r>
          </a:p>
          <a:p>
            <a:pPr marL="285750" indent="-285750">
              <a:spcAft>
                <a:spcPts val="600"/>
              </a:spcAft>
              <a:buFont typeface="Arial"/>
              <a:buChar char="•"/>
            </a:pPr>
            <a:r>
              <a:rPr lang="en-US" sz="1700" b="1"/>
              <a:t>Findings:</a:t>
            </a:r>
            <a:r>
              <a:rPr lang="en-US" sz="1700"/>
              <a:t> </a:t>
            </a:r>
          </a:p>
          <a:p>
            <a:pPr marL="514350" lvl="1" indent="-285750">
              <a:spcAft>
                <a:spcPts val="600"/>
              </a:spcAft>
              <a:buFont typeface="Courier New"/>
              <a:buChar char="o"/>
            </a:pPr>
            <a:r>
              <a:rPr lang="en-US" sz="1700"/>
              <a:t>Accuracy was misleading because of class imbalance between delayed and not delayed.</a:t>
            </a:r>
          </a:p>
          <a:p>
            <a:pPr marL="514350" lvl="1" indent="-285750">
              <a:spcAft>
                <a:spcPts val="600"/>
              </a:spcAft>
              <a:buFont typeface="Courier New"/>
              <a:buChar char="o"/>
            </a:pPr>
            <a:r>
              <a:rPr lang="en-US" sz="1700"/>
              <a:t>Recall improved to 59.2% for the initial model and 63.4% for Random Forest </a:t>
            </a:r>
          </a:p>
          <a:p>
            <a:pPr lvl="1">
              <a:spcAft>
                <a:spcPts val="600"/>
              </a:spcAft>
            </a:pPr>
            <a:endParaRPr lang="en-US"/>
          </a:p>
          <a:p>
            <a:pPr marL="514350" lvl="1" indent="-285750">
              <a:spcAft>
                <a:spcPts val="600"/>
              </a:spcAft>
              <a:buFont typeface="Courier New"/>
              <a:buChar char="o"/>
            </a:pPr>
            <a:endParaRPr lang="en-US"/>
          </a:p>
          <a:p>
            <a:pPr>
              <a:spcAft>
                <a:spcPts val="600"/>
              </a:spcAft>
            </a:pPr>
            <a:endParaRPr lang="en-US"/>
          </a:p>
        </p:txBody>
      </p:sp>
      <p:graphicFrame>
        <p:nvGraphicFramePr>
          <p:cNvPr id="6" name="Table 5">
            <a:extLst>
              <a:ext uri="{FF2B5EF4-FFF2-40B4-BE49-F238E27FC236}">
                <a16:creationId xmlns:a16="http://schemas.microsoft.com/office/drawing/2014/main" id="{3F8BD1A7-7EA9-D512-0484-316E142A0BAC}"/>
              </a:ext>
            </a:extLst>
          </p:cNvPr>
          <p:cNvGraphicFramePr>
            <a:graphicFrameLocks noGrp="1"/>
          </p:cNvGraphicFramePr>
          <p:nvPr>
            <p:extLst>
              <p:ext uri="{D42A27DB-BD31-4B8C-83A1-F6EECF244321}">
                <p14:modId xmlns:p14="http://schemas.microsoft.com/office/powerpoint/2010/main" val="3435933495"/>
              </p:ext>
            </p:extLst>
          </p:nvPr>
        </p:nvGraphicFramePr>
        <p:xfrm>
          <a:off x="238835" y="1319283"/>
          <a:ext cx="5910066" cy="4823206"/>
        </p:xfrm>
        <a:graphic>
          <a:graphicData uri="http://schemas.openxmlformats.org/drawingml/2006/table">
            <a:tbl>
              <a:tblPr bandRow="1">
                <a:tableStyleId>{9D7B26C5-4107-4FEC-AEDC-1716B250A1EF}</a:tableStyleId>
              </a:tblPr>
              <a:tblGrid>
                <a:gridCol w="966883">
                  <a:extLst>
                    <a:ext uri="{9D8B030D-6E8A-4147-A177-3AD203B41FA5}">
                      <a16:colId xmlns:a16="http://schemas.microsoft.com/office/drawing/2014/main" val="493319554"/>
                    </a:ext>
                  </a:extLst>
                </a:gridCol>
                <a:gridCol w="1562492">
                  <a:extLst>
                    <a:ext uri="{9D8B030D-6E8A-4147-A177-3AD203B41FA5}">
                      <a16:colId xmlns:a16="http://schemas.microsoft.com/office/drawing/2014/main" val="1206820877"/>
                    </a:ext>
                  </a:extLst>
                </a:gridCol>
                <a:gridCol w="1291193">
                  <a:extLst>
                    <a:ext uri="{9D8B030D-6E8A-4147-A177-3AD203B41FA5}">
                      <a16:colId xmlns:a16="http://schemas.microsoft.com/office/drawing/2014/main" val="4159422436"/>
                    </a:ext>
                  </a:extLst>
                </a:gridCol>
                <a:gridCol w="2089498">
                  <a:extLst>
                    <a:ext uri="{9D8B030D-6E8A-4147-A177-3AD203B41FA5}">
                      <a16:colId xmlns:a16="http://schemas.microsoft.com/office/drawing/2014/main" val="2452441674"/>
                    </a:ext>
                  </a:extLst>
                </a:gridCol>
              </a:tblGrid>
              <a:tr h="475279">
                <a:tc>
                  <a:txBody>
                    <a:bodyPr/>
                    <a:lstStyle/>
                    <a:p>
                      <a:pPr algn="ctr">
                        <a:buNone/>
                      </a:pPr>
                      <a:r>
                        <a:rPr lang="en-US" sz="1200" b="1" cap="none" spc="0">
                          <a:solidFill>
                            <a:schemeClr val="bg1"/>
                          </a:solidFill>
                        </a:rPr>
                        <a:t>Metric</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tc>
                  <a:txBody>
                    <a:bodyPr/>
                    <a:lstStyle/>
                    <a:p>
                      <a:pPr algn="ctr">
                        <a:buNone/>
                      </a:pPr>
                      <a:r>
                        <a:rPr lang="en-US" sz="1200" b="1" cap="none" spc="0">
                          <a:solidFill>
                            <a:schemeClr val="bg1"/>
                          </a:solidFill>
                        </a:rPr>
                        <a:t>Logistic Regression</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tc>
                  <a:txBody>
                    <a:bodyPr/>
                    <a:lstStyle/>
                    <a:p>
                      <a:pPr algn="ctr">
                        <a:buNone/>
                      </a:pPr>
                      <a:r>
                        <a:rPr lang="en-US" sz="1200" b="1" cap="none" spc="0">
                          <a:solidFill>
                            <a:schemeClr val="bg1"/>
                          </a:solidFill>
                        </a:rPr>
                        <a:t>Random Forest</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tc>
                  <a:txBody>
                    <a:bodyPr/>
                    <a:lstStyle/>
                    <a:p>
                      <a:pPr algn="ctr">
                        <a:buNone/>
                      </a:pPr>
                      <a:r>
                        <a:rPr lang="en-US" sz="1200" b="1" cap="none" spc="0">
                          <a:solidFill>
                            <a:schemeClr val="bg1"/>
                          </a:solidFill>
                        </a:rPr>
                        <a:t>Change: RF vs. LR</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extLst>
                  <a:ext uri="{0D108BD9-81ED-4DB2-BD59-A6C34878D82A}">
                    <a16:rowId xmlns:a16="http://schemas.microsoft.com/office/drawing/2014/main" val="1624237525"/>
                  </a:ext>
                </a:extLst>
              </a:tr>
              <a:tr h="915353">
                <a:tc>
                  <a:txBody>
                    <a:bodyPr/>
                    <a:lstStyle/>
                    <a:p>
                      <a:pPr algn="ctr">
                        <a:buNone/>
                      </a:pPr>
                      <a:r>
                        <a:rPr lang="en-US" sz="1400" cap="none" spc="0">
                          <a:solidFill>
                            <a:srgbClr val="2A0053"/>
                          </a:solidFill>
                        </a:rPr>
                        <a:t>Accuracy</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71.12%</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58.95%</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 12.17 pts  - RF made fewer correct predictions overall</a:t>
                      </a:r>
                      <a:endParaRPr lang="en-US" sz="1400"/>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62179159"/>
                  </a:ext>
                </a:extLst>
              </a:tr>
              <a:tr h="686515">
                <a:tc>
                  <a:txBody>
                    <a:bodyPr/>
                    <a:lstStyle/>
                    <a:p>
                      <a:pPr algn="ctr">
                        <a:buNone/>
                      </a:pPr>
                      <a:r>
                        <a:rPr lang="en-US" sz="1400" cap="none" spc="0">
                          <a:solidFill>
                            <a:srgbClr val="2A0053"/>
                          </a:solidFill>
                        </a:rPr>
                        <a:t>Precision</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34.21%</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27.41%</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 6.80 pts -  RF produced more false delay alerts</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754571600"/>
                  </a:ext>
                </a:extLst>
              </a:tr>
              <a:tr h="915353">
                <a:tc>
                  <a:txBody>
                    <a:bodyPr/>
                    <a:lstStyle/>
                    <a:p>
                      <a:pPr algn="ctr">
                        <a:buNone/>
                      </a:pPr>
                      <a:r>
                        <a:rPr lang="en-US" sz="1400" cap="none" spc="0">
                          <a:solidFill>
                            <a:srgbClr val="2A0053"/>
                          </a:solidFill>
                        </a:rPr>
                        <a:t>Recall</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24.31%</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44.89%</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 20.58 pts - RF identified substantially more actual delays</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797104663"/>
                  </a:ext>
                </a:extLst>
              </a:tr>
              <a:tr h="915353">
                <a:tc>
                  <a:txBody>
                    <a:bodyPr/>
                    <a:lstStyle/>
                    <a:p>
                      <a:pPr algn="ctr">
                        <a:buNone/>
                      </a:pPr>
                      <a:r>
                        <a:rPr lang="en-US" sz="1400" cap="none" spc="0">
                          <a:solidFill>
                            <a:srgbClr val="2A0053"/>
                          </a:solidFill>
                        </a:rPr>
                        <a:t>F1 Score</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28.42%</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34.03%</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 5.61 pts - RF had a better precision/recall balance</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227810871"/>
                  </a:ext>
                </a:extLst>
              </a:tr>
              <a:tr h="915353">
                <a:tc>
                  <a:txBody>
                    <a:bodyPr/>
                    <a:lstStyle/>
                    <a:p>
                      <a:pPr algn="ctr">
                        <a:buNone/>
                      </a:pPr>
                      <a:r>
                        <a:rPr lang="en-US" sz="1400" cap="none" spc="0">
                          <a:solidFill>
                            <a:srgbClr val="2A0053"/>
                          </a:solidFill>
                        </a:rPr>
                        <a:t>ROC-AUC</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60.51%</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57.28%</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buNone/>
                      </a:pPr>
                      <a:r>
                        <a:rPr lang="en-US" sz="1400" cap="none" spc="0">
                          <a:solidFill>
                            <a:srgbClr val="2A0053"/>
                          </a:solidFill>
                        </a:rPr>
                        <a:t>↓ 3.23 pts - Logistic Regression had better overall ranking ability</a:t>
                      </a:r>
                    </a:p>
                  </a:txBody>
                  <a:tcPr marL="55607" marR="79439" marT="15888" marB="119158"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376721646"/>
                  </a:ext>
                </a:extLst>
              </a:tr>
            </a:tbl>
          </a:graphicData>
        </a:graphic>
      </p:graphicFrame>
    </p:spTree>
    <p:extLst>
      <p:ext uri="{BB962C8B-B14F-4D97-AF65-F5344CB8AC3E}">
        <p14:creationId xmlns:p14="http://schemas.microsoft.com/office/powerpoint/2010/main" val="211196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E15C-4EB2-A97F-E3D2-FDD90991E48F}"/>
              </a:ext>
            </a:extLst>
          </p:cNvPr>
          <p:cNvSpPr>
            <a:spLocks noGrp="1"/>
          </p:cNvSpPr>
          <p:nvPr>
            <p:ph type="title"/>
          </p:nvPr>
        </p:nvSpPr>
        <p:spPr>
          <a:xfrm>
            <a:off x="457200" y="293483"/>
            <a:ext cx="11277599" cy="914400"/>
          </a:xfrm>
        </p:spPr>
        <p:txBody>
          <a:bodyPr>
            <a:normAutofit fontScale="90000"/>
          </a:bodyPr>
          <a:lstStyle/>
          <a:p>
            <a:r>
              <a:rPr lang="en-US">
                <a:cs typeface="Biome"/>
              </a:rPr>
              <a:t>Experiment 1 - Doe</a:t>
            </a:r>
            <a:r>
              <a:rPr lang="en-US">
                <a:ea typeface="Calibri"/>
                <a:cs typeface="Biome"/>
              </a:rPr>
              <a:t>s</a:t>
            </a:r>
            <a:r>
              <a:rPr lang="en-US">
                <a:solidFill>
                  <a:srgbClr val="2A0053"/>
                </a:solidFill>
                <a:latin typeface="Chamberi Super Display"/>
                <a:ea typeface="Calibri"/>
                <a:cs typeface="Biome"/>
              </a:rPr>
              <a:t> expanding the training dataset from one month to three (Q1 2026) improve model performance?</a:t>
            </a:r>
            <a:endParaRPr lang="en-US">
              <a:solidFill>
                <a:srgbClr val="2A0053"/>
              </a:solidFill>
              <a:latin typeface="Chamberi Super Display"/>
            </a:endParaRPr>
          </a:p>
        </p:txBody>
      </p:sp>
      <p:sp>
        <p:nvSpPr>
          <p:cNvPr id="3" name="Content Placeholder 2">
            <a:extLst>
              <a:ext uri="{FF2B5EF4-FFF2-40B4-BE49-F238E27FC236}">
                <a16:creationId xmlns:a16="http://schemas.microsoft.com/office/drawing/2014/main" id="{C662E5BF-5146-504B-9ADB-0BD9AC641621}"/>
              </a:ext>
            </a:extLst>
          </p:cNvPr>
          <p:cNvSpPr>
            <a:spLocks noGrp="1"/>
          </p:cNvSpPr>
          <p:nvPr>
            <p:ph idx="1"/>
          </p:nvPr>
        </p:nvSpPr>
        <p:spPr>
          <a:xfrm>
            <a:off x="1133168" y="1394696"/>
            <a:ext cx="4999629" cy="1921234"/>
          </a:xfrm>
        </p:spPr>
        <p:txBody>
          <a:bodyPr vert="horz" lIns="91440" tIns="45720" rIns="91440" bIns="45720" rtlCol="0" anchor="t">
            <a:normAutofit/>
          </a:bodyPr>
          <a:lstStyle/>
          <a:p>
            <a:r>
              <a:rPr lang="en-US" b="1">
                <a:ea typeface="+mn-lt"/>
                <a:cs typeface="+mn-lt"/>
              </a:rPr>
              <a:t>Experiment Design</a:t>
            </a:r>
            <a:endParaRPr lang="en-US"/>
          </a:p>
          <a:p>
            <a:pPr marL="285750" indent="-285750">
              <a:buFont typeface="Arial"/>
              <a:buChar char="•"/>
            </a:pPr>
            <a:r>
              <a:rPr lang="en-US" b="1">
                <a:ea typeface="+mn-lt"/>
                <a:cs typeface="+mn-lt"/>
              </a:rPr>
              <a:t>Baseline:</a:t>
            </a:r>
            <a:r>
              <a:rPr lang="en-US">
                <a:ea typeface="+mn-lt"/>
                <a:cs typeface="+mn-lt"/>
              </a:rPr>
              <a:t> January 2026 data</a:t>
            </a:r>
            <a:endParaRPr lang="en-US"/>
          </a:p>
          <a:p>
            <a:pPr marL="285750" indent="-285750">
              <a:buFont typeface="Arial"/>
              <a:buChar char="•"/>
            </a:pPr>
            <a:r>
              <a:rPr lang="en-US" b="1">
                <a:ea typeface="+mn-lt"/>
                <a:cs typeface="+mn-lt"/>
              </a:rPr>
              <a:t>Experiment 1:</a:t>
            </a:r>
            <a:r>
              <a:rPr lang="en-US">
                <a:ea typeface="+mn-lt"/>
                <a:cs typeface="+mn-lt"/>
              </a:rPr>
              <a:t> Q1 2026 dataset - 1,611,874 usable flights</a:t>
            </a:r>
            <a:endParaRPr lang="en-US"/>
          </a:p>
          <a:p>
            <a:pPr marL="285750" indent="-285750">
              <a:buFont typeface="Arial"/>
              <a:buChar char="•"/>
            </a:pPr>
            <a:r>
              <a:rPr lang="en-US" b="1">
                <a:ea typeface="+mn-lt"/>
                <a:cs typeface="+mn-lt"/>
              </a:rPr>
              <a:t>Training:</a:t>
            </a:r>
            <a:r>
              <a:rPr lang="en-US">
                <a:ea typeface="+mn-lt"/>
                <a:cs typeface="+mn-lt"/>
              </a:rPr>
              <a:t> Jan. 1–Feb. 28 - 1,019,618 flights</a:t>
            </a:r>
            <a:endParaRPr lang="en-US"/>
          </a:p>
          <a:p>
            <a:pPr marL="285750" indent="-285750">
              <a:buFont typeface="Arial"/>
              <a:buChar char="•"/>
            </a:pPr>
            <a:r>
              <a:rPr lang="en-US" b="1">
                <a:ea typeface="+mn-lt"/>
                <a:cs typeface="+mn-lt"/>
              </a:rPr>
              <a:t>Validation:</a:t>
            </a:r>
            <a:r>
              <a:rPr lang="en-US">
                <a:ea typeface="+mn-lt"/>
                <a:cs typeface="+mn-lt"/>
              </a:rPr>
              <a:t> Mar. 1–15 - 282,419 flights</a:t>
            </a:r>
            <a:endParaRPr lang="en-US"/>
          </a:p>
        </p:txBody>
      </p:sp>
      <p:sp>
        <p:nvSpPr>
          <p:cNvPr id="8" name="Content Placeholder 2">
            <a:extLst>
              <a:ext uri="{FF2B5EF4-FFF2-40B4-BE49-F238E27FC236}">
                <a16:creationId xmlns:a16="http://schemas.microsoft.com/office/drawing/2014/main" id="{7C67DD85-9282-25A3-64F9-62C21FE3C87A}"/>
              </a:ext>
            </a:extLst>
          </p:cNvPr>
          <p:cNvSpPr txBox="1">
            <a:spLocks/>
          </p:cNvSpPr>
          <p:nvPr/>
        </p:nvSpPr>
        <p:spPr>
          <a:xfrm>
            <a:off x="6140246" y="1719160"/>
            <a:ext cx="4999629" cy="1921234"/>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a:buChar char="•"/>
            </a:pPr>
            <a:r>
              <a:rPr lang="en-US" b="1">
                <a:ea typeface="+mn-lt"/>
                <a:cs typeface="+mn-lt"/>
              </a:rPr>
              <a:t>Test:</a:t>
            </a:r>
            <a:r>
              <a:rPr lang="en-US">
                <a:ea typeface="+mn-lt"/>
                <a:cs typeface="+mn-lt"/>
              </a:rPr>
              <a:t> Mar. 16–31 — 309,837 flights</a:t>
            </a:r>
          </a:p>
          <a:p>
            <a:pPr marL="285750" indent="-285750">
              <a:buFont typeface="Arial"/>
              <a:buChar char="•"/>
            </a:pPr>
            <a:r>
              <a:rPr lang="en-US">
                <a:ea typeface="+mn-lt"/>
                <a:cs typeface="+mn-lt"/>
              </a:rPr>
              <a:t>Same </a:t>
            </a:r>
            <a:r>
              <a:rPr lang="en-US" b="1">
                <a:ea typeface="+mn-lt"/>
                <a:cs typeface="+mn-lt"/>
              </a:rPr>
              <a:t>11 pre-departure features</a:t>
            </a:r>
            <a:endParaRPr lang="en-US">
              <a:ea typeface="+mn-lt"/>
              <a:cs typeface="+mn-lt"/>
            </a:endParaRPr>
          </a:p>
          <a:p>
            <a:pPr marL="285750" indent="-285750">
              <a:buFont typeface="Arial"/>
              <a:buChar char="•"/>
            </a:pPr>
            <a:r>
              <a:rPr lang="en-US">
                <a:ea typeface="+mn-lt"/>
                <a:cs typeface="+mn-lt"/>
              </a:rPr>
              <a:t>Same Random Forest hyperparameters</a:t>
            </a:r>
            <a:endParaRPr lang="en-US"/>
          </a:p>
          <a:p>
            <a:pPr marL="285750" indent="-285750">
              <a:buFont typeface="Arial"/>
              <a:buChar char="•"/>
            </a:pPr>
            <a:r>
              <a:rPr lang="en-US">
                <a:ea typeface="+mn-lt"/>
                <a:cs typeface="+mn-lt"/>
              </a:rPr>
              <a:t>Results tracked in </a:t>
            </a:r>
            <a:r>
              <a:rPr lang="en-US" b="1" err="1">
                <a:ea typeface="+mn-lt"/>
                <a:cs typeface="+mn-lt"/>
              </a:rPr>
              <a:t>MLflow</a:t>
            </a:r>
            <a:endParaRPr lang="en-US" err="1"/>
          </a:p>
          <a:p>
            <a:endParaRPr lang="en-US" b="1"/>
          </a:p>
        </p:txBody>
      </p:sp>
      <p:pic>
        <p:nvPicPr>
          <p:cNvPr id="9" name="Picture 8">
            <a:extLst>
              <a:ext uri="{FF2B5EF4-FFF2-40B4-BE49-F238E27FC236}">
                <a16:creationId xmlns:a16="http://schemas.microsoft.com/office/drawing/2014/main" id="{C05E95DB-7EB7-D3A7-560C-3A250AE7F164}"/>
              </a:ext>
            </a:extLst>
          </p:cNvPr>
          <p:cNvPicPr>
            <a:picLocks noChangeAspect="1"/>
          </p:cNvPicPr>
          <p:nvPr/>
        </p:nvPicPr>
        <p:blipFill>
          <a:blip r:embed="rId3"/>
          <a:stretch>
            <a:fillRect/>
          </a:stretch>
        </p:blipFill>
        <p:spPr>
          <a:xfrm>
            <a:off x="147483" y="3432952"/>
            <a:ext cx="11860163" cy="3322771"/>
          </a:xfrm>
          <a:prstGeom prst="rect">
            <a:avLst/>
          </a:prstGeom>
        </p:spPr>
      </p:pic>
    </p:spTree>
    <p:extLst>
      <p:ext uri="{BB962C8B-B14F-4D97-AF65-F5344CB8AC3E}">
        <p14:creationId xmlns:p14="http://schemas.microsoft.com/office/powerpoint/2010/main" val="2198794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6A5BE-51AA-359F-4348-9977E2740C1B}"/>
              </a:ext>
            </a:extLst>
          </p:cNvPr>
          <p:cNvSpPr>
            <a:spLocks noGrp="1"/>
          </p:cNvSpPr>
          <p:nvPr>
            <p:ph type="title"/>
          </p:nvPr>
        </p:nvSpPr>
        <p:spPr/>
        <p:txBody>
          <a:bodyPr/>
          <a:lstStyle/>
          <a:p>
            <a:r>
              <a:rPr lang="en-US">
                <a:cs typeface="Biome"/>
              </a:rPr>
              <a:t>Experiment 1 - Results</a:t>
            </a:r>
            <a:endParaRPr lang="en-US"/>
          </a:p>
        </p:txBody>
      </p:sp>
      <p:graphicFrame>
        <p:nvGraphicFramePr>
          <p:cNvPr id="10" name="Table 9">
            <a:extLst>
              <a:ext uri="{FF2B5EF4-FFF2-40B4-BE49-F238E27FC236}">
                <a16:creationId xmlns:a16="http://schemas.microsoft.com/office/drawing/2014/main" id="{144FA2D3-68E6-B17C-EF58-11A5E7992FB1}"/>
              </a:ext>
            </a:extLst>
          </p:cNvPr>
          <p:cNvGraphicFramePr>
            <a:graphicFrameLocks noGrp="1"/>
          </p:cNvGraphicFramePr>
          <p:nvPr>
            <p:extLst>
              <p:ext uri="{D42A27DB-BD31-4B8C-83A1-F6EECF244321}">
                <p14:modId xmlns:p14="http://schemas.microsoft.com/office/powerpoint/2010/main" val="1205543249"/>
              </p:ext>
            </p:extLst>
          </p:nvPr>
        </p:nvGraphicFramePr>
        <p:xfrm>
          <a:off x="319548" y="1125793"/>
          <a:ext cx="11552900" cy="3059108"/>
        </p:xfrm>
        <a:graphic>
          <a:graphicData uri="http://schemas.openxmlformats.org/drawingml/2006/table">
            <a:tbl>
              <a:tblPr bandRow="1">
                <a:tableStyleId>{9D7B26C5-4107-4FEC-AEDC-1716B250A1EF}</a:tableStyleId>
              </a:tblPr>
              <a:tblGrid>
                <a:gridCol w="2888225">
                  <a:extLst>
                    <a:ext uri="{9D8B030D-6E8A-4147-A177-3AD203B41FA5}">
                      <a16:colId xmlns:a16="http://schemas.microsoft.com/office/drawing/2014/main" val="2967085043"/>
                    </a:ext>
                  </a:extLst>
                </a:gridCol>
                <a:gridCol w="2888225">
                  <a:extLst>
                    <a:ext uri="{9D8B030D-6E8A-4147-A177-3AD203B41FA5}">
                      <a16:colId xmlns:a16="http://schemas.microsoft.com/office/drawing/2014/main" val="2861791981"/>
                    </a:ext>
                  </a:extLst>
                </a:gridCol>
                <a:gridCol w="2888225">
                  <a:extLst>
                    <a:ext uri="{9D8B030D-6E8A-4147-A177-3AD203B41FA5}">
                      <a16:colId xmlns:a16="http://schemas.microsoft.com/office/drawing/2014/main" val="3580169292"/>
                    </a:ext>
                  </a:extLst>
                </a:gridCol>
                <a:gridCol w="2888225">
                  <a:extLst>
                    <a:ext uri="{9D8B030D-6E8A-4147-A177-3AD203B41FA5}">
                      <a16:colId xmlns:a16="http://schemas.microsoft.com/office/drawing/2014/main" val="2916425963"/>
                    </a:ext>
                  </a:extLst>
                </a:gridCol>
              </a:tblGrid>
              <a:tr h="371189">
                <a:tc>
                  <a:txBody>
                    <a:bodyPr/>
                    <a:lstStyle/>
                    <a:p>
                      <a:pPr>
                        <a:buNone/>
                      </a:pPr>
                      <a:r>
                        <a:rPr lang="en-US" b="1">
                          <a:solidFill>
                            <a:schemeClr val="bg1"/>
                          </a:solidFill>
                        </a:rPr>
                        <a:t>Metric</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tc>
                  <a:txBody>
                    <a:bodyPr/>
                    <a:lstStyle/>
                    <a:p>
                      <a:pPr>
                        <a:buNone/>
                      </a:pPr>
                      <a:r>
                        <a:rPr lang="en-US" b="1">
                          <a:solidFill>
                            <a:schemeClr val="bg1"/>
                          </a:solidFill>
                        </a:rPr>
                        <a:t>January Baseline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tc>
                  <a:txBody>
                    <a:bodyPr/>
                    <a:lstStyle/>
                    <a:p>
                      <a:pPr>
                        <a:buNone/>
                      </a:pPr>
                      <a:r>
                        <a:rPr lang="en-US" b="1">
                          <a:solidFill>
                            <a:schemeClr val="bg1"/>
                          </a:solidFill>
                        </a:rPr>
                        <a:t>Q1 Experiment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tc>
                  <a:txBody>
                    <a:bodyPr/>
                    <a:lstStyle/>
                    <a:p>
                      <a:pPr>
                        <a:buNone/>
                      </a:pPr>
                      <a:r>
                        <a:rPr lang="en-US" b="1">
                          <a:solidFill>
                            <a:schemeClr val="bg1"/>
                          </a:solidFill>
                        </a:rPr>
                        <a:t>Change Analysis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tx1">
                        <a:lumMod val="90000"/>
                        <a:lumOff val="10000"/>
                      </a:schemeClr>
                    </a:solidFill>
                  </a:tcPr>
                </a:tc>
                <a:extLst>
                  <a:ext uri="{0D108BD9-81ED-4DB2-BD59-A6C34878D82A}">
                    <a16:rowId xmlns:a16="http://schemas.microsoft.com/office/drawing/2014/main" val="2111279730"/>
                  </a:ext>
                </a:extLst>
              </a:tr>
              <a:tr h="524784">
                <a:tc>
                  <a:txBody>
                    <a:bodyPr/>
                    <a:lstStyle/>
                    <a:p>
                      <a:pPr>
                        <a:buNone/>
                      </a:pPr>
                      <a:r>
                        <a:rPr lang="en-US" sz="1400"/>
                        <a:t>Accuracy</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58.95%</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49.71%</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 9.24 pts - More overall predictions were incorrect</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04684742"/>
                  </a:ext>
                </a:extLst>
              </a:tr>
              <a:tr h="371189">
                <a:tc>
                  <a:txBody>
                    <a:bodyPr/>
                    <a:lstStyle/>
                    <a:p>
                      <a:pPr>
                        <a:buNone/>
                      </a:pPr>
                      <a:r>
                        <a:rPr lang="en-US" sz="1400"/>
                        <a:t>Precision</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27.41%</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27.63%</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 0.22 pts - Essentially unchanged</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680714557"/>
                  </a:ext>
                </a:extLst>
              </a:tr>
              <a:tr h="524784">
                <a:tc>
                  <a:txBody>
                    <a:bodyPr/>
                    <a:lstStyle/>
                    <a:p>
                      <a:pPr>
                        <a:buNone/>
                      </a:pPr>
                      <a:r>
                        <a:rPr lang="en-US" sz="1400"/>
                        <a:t>Recall</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FFF00"/>
                    </a:solidFill>
                  </a:tcPr>
                </a:tc>
                <a:tc>
                  <a:txBody>
                    <a:bodyPr/>
                    <a:lstStyle/>
                    <a:p>
                      <a:pPr>
                        <a:buNone/>
                      </a:pPr>
                      <a:r>
                        <a:rPr lang="en-US" sz="1400"/>
                        <a:t>44.89%</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FFF00"/>
                    </a:solidFill>
                  </a:tcPr>
                </a:tc>
                <a:tc>
                  <a:txBody>
                    <a:bodyPr/>
                    <a:lstStyle/>
                    <a:p>
                      <a:pPr>
                        <a:buNone/>
                      </a:pPr>
                      <a:r>
                        <a:rPr lang="en-US" sz="1400"/>
                        <a:t>74.70%</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FFF00"/>
                    </a:solidFill>
                  </a:tcPr>
                </a:tc>
                <a:tc>
                  <a:txBody>
                    <a:bodyPr/>
                    <a:lstStyle/>
                    <a:p>
                      <a:pPr>
                        <a:buNone/>
                      </a:pPr>
                      <a:r>
                        <a:rPr lang="en-US" sz="1400"/>
                        <a:t>↑ 29.81 pts - Major improvement in identifying actual delays</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FFF00"/>
                    </a:solidFill>
                  </a:tcPr>
                </a:tc>
                <a:extLst>
                  <a:ext uri="{0D108BD9-81ED-4DB2-BD59-A6C34878D82A}">
                    <a16:rowId xmlns:a16="http://schemas.microsoft.com/office/drawing/2014/main" val="1589023405"/>
                  </a:ext>
                </a:extLst>
              </a:tr>
              <a:tr h="524784">
                <a:tc>
                  <a:txBody>
                    <a:bodyPr/>
                    <a:lstStyle/>
                    <a:p>
                      <a:pPr>
                        <a:buNone/>
                      </a:pPr>
                      <a:r>
                        <a:rPr lang="en-US" sz="1400"/>
                        <a:t>F1 Score</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34.03%</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40.34%</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 6.31 pts - Better balance of precision and recall</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499969459"/>
                  </a:ext>
                </a:extLst>
              </a:tr>
              <a:tr h="742378">
                <a:tc>
                  <a:txBody>
                    <a:bodyPr/>
                    <a:lstStyle/>
                    <a:p>
                      <a:pPr>
                        <a:buNone/>
                      </a:pPr>
                      <a:r>
                        <a:rPr lang="en-US" sz="1400"/>
                        <a:t>ROC-AUC</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57.28%</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62.09%</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buNone/>
                      </a:pPr>
                      <a:r>
                        <a:rPr lang="en-US" sz="1400"/>
                        <a:t>↑ 4.81 pts - Improved ability to distinguish delayed vs. non-delayed flights</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982132600"/>
                  </a:ext>
                </a:extLst>
              </a:tr>
            </a:tbl>
          </a:graphicData>
        </a:graphic>
      </p:graphicFrame>
      <p:sp>
        <p:nvSpPr>
          <p:cNvPr id="11" name="TextBox 10">
            <a:extLst>
              <a:ext uri="{FF2B5EF4-FFF2-40B4-BE49-F238E27FC236}">
                <a16:creationId xmlns:a16="http://schemas.microsoft.com/office/drawing/2014/main" id="{8513FAC0-300C-D605-A25A-EC1BE8B6002B}"/>
              </a:ext>
            </a:extLst>
          </p:cNvPr>
          <p:cNvSpPr txBox="1"/>
          <p:nvPr/>
        </p:nvSpPr>
        <p:spPr>
          <a:xfrm>
            <a:off x="319549" y="4584289"/>
            <a:ext cx="1155290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What we learned:</a:t>
            </a:r>
            <a:endParaRPr lang="en-US"/>
          </a:p>
          <a:p>
            <a:pPr marL="285750" indent="-285750">
              <a:buFont typeface="Arial"/>
              <a:buChar char="•"/>
            </a:pPr>
            <a:r>
              <a:rPr lang="en-US">
                <a:ea typeface="+mn-lt"/>
                <a:cs typeface="+mn-lt"/>
              </a:rPr>
              <a:t>More historical training data helped the Random Forest capture a much larger share of actual delays, but increased false alarms. </a:t>
            </a:r>
            <a:endParaRPr lang="en-US">
              <a:solidFill>
                <a:srgbClr val="000000"/>
              </a:solidFill>
              <a:ea typeface="+mn-lt"/>
              <a:cs typeface="+mn-lt"/>
            </a:endParaRPr>
          </a:p>
          <a:p>
            <a:pPr marL="285750" indent="-285750">
              <a:buFont typeface="Arial"/>
              <a:buChar char="•"/>
            </a:pPr>
            <a:r>
              <a:rPr lang="en-US">
                <a:ea typeface="+mn-lt"/>
                <a:cs typeface="+mn-lt"/>
              </a:rPr>
              <a:t>This suggests that additional training data helped identify more true delays but created a tradeoff between recall and false alarms.</a:t>
            </a:r>
            <a:endParaRPr lang="en-US">
              <a:solidFill>
                <a:srgbClr val="000000"/>
              </a:solidFill>
              <a:ea typeface="+mn-lt"/>
              <a:cs typeface="+mn-lt"/>
            </a:endParaRPr>
          </a:p>
          <a:p>
            <a:endParaRPr lang="en-US">
              <a:ea typeface="+mn-lt"/>
              <a:cs typeface="+mn-lt"/>
            </a:endParaRPr>
          </a:p>
          <a:p>
            <a:r>
              <a:rPr lang="en-US">
                <a:ea typeface="+mn-lt"/>
                <a:cs typeface="+mn-lt"/>
              </a:rPr>
              <a:t>The next experiment should focus on improving the precision/recall tradeoff rather than simply adding more data.</a:t>
            </a:r>
            <a:endParaRPr lang="en-US"/>
          </a:p>
        </p:txBody>
      </p:sp>
    </p:spTree>
    <p:extLst>
      <p:ext uri="{BB962C8B-B14F-4D97-AF65-F5344CB8AC3E}">
        <p14:creationId xmlns:p14="http://schemas.microsoft.com/office/powerpoint/2010/main" val="42584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68A0F-693D-964F-CCE7-55730D8D1D5D}"/>
              </a:ext>
            </a:extLst>
          </p:cNvPr>
          <p:cNvSpPr>
            <a:spLocks noGrp="1"/>
          </p:cNvSpPr>
          <p:nvPr>
            <p:ph type="title"/>
          </p:nvPr>
        </p:nvSpPr>
        <p:spPr/>
        <p:txBody>
          <a:bodyPr/>
          <a:lstStyle/>
          <a:p>
            <a:r>
              <a:rPr lang="en-US">
                <a:cs typeface="Biome"/>
              </a:rPr>
              <a:t>Experiment Roadmap</a:t>
            </a:r>
            <a:endParaRPr lang="en-US"/>
          </a:p>
        </p:txBody>
      </p:sp>
      <p:graphicFrame>
        <p:nvGraphicFramePr>
          <p:cNvPr id="5" name="Content Placeholder 4">
            <a:extLst>
              <a:ext uri="{FF2B5EF4-FFF2-40B4-BE49-F238E27FC236}">
                <a16:creationId xmlns:a16="http://schemas.microsoft.com/office/drawing/2014/main" id="{E6EC97FD-7344-A94B-6146-3FB325D621B6}"/>
              </a:ext>
            </a:extLst>
          </p:cNvPr>
          <p:cNvGraphicFramePr>
            <a:graphicFrameLocks noGrp="1"/>
          </p:cNvGraphicFramePr>
          <p:nvPr>
            <p:ph idx="1"/>
            <p:extLst>
              <p:ext uri="{D42A27DB-BD31-4B8C-83A1-F6EECF244321}">
                <p14:modId xmlns:p14="http://schemas.microsoft.com/office/powerpoint/2010/main" val="1460999446"/>
              </p:ext>
            </p:extLst>
          </p:nvPr>
        </p:nvGraphicFramePr>
        <p:xfrm>
          <a:off x="272955" y="1216925"/>
          <a:ext cx="11445708" cy="5426593"/>
        </p:xfrm>
        <a:graphic>
          <a:graphicData uri="http://schemas.openxmlformats.org/drawingml/2006/table">
            <a:tbl>
              <a:tblPr bandRow="1">
                <a:tableStyleId>{5C22544A-7EE6-4342-B048-85BDC9FD1C3A}</a:tableStyleId>
              </a:tblPr>
              <a:tblGrid>
                <a:gridCol w="3815236">
                  <a:extLst>
                    <a:ext uri="{9D8B030D-6E8A-4147-A177-3AD203B41FA5}">
                      <a16:colId xmlns:a16="http://schemas.microsoft.com/office/drawing/2014/main" val="2263014510"/>
                    </a:ext>
                  </a:extLst>
                </a:gridCol>
                <a:gridCol w="3815236">
                  <a:extLst>
                    <a:ext uri="{9D8B030D-6E8A-4147-A177-3AD203B41FA5}">
                      <a16:colId xmlns:a16="http://schemas.microsoft.com/office/drawing/2014/main" val="946868987"/>
                    </a:ext>
                  </a:extLst>
                </a:gridCol>
                <a:gridCol w="3815236">
                  <a:extLst>
                    <a:ext uri="{9D8B030D-6E8A-4147-A177-3AD203B41FA5}">
                      <a16:colId xmlns:a16="http://schemas.microsoft.com/office/drawing/2014/main" val="447105590"/>
                    </a:ext>
                  </a:extLst>
                </a:gridCol>
              </a:tblGrid>
              <a:tr h="318166">
                <a:tc>
                  <a:txBody>
                    <a:bodyPr/>
                    <a:lstStyle/>
                    <a:p>
                      <a:pPr>
                        <a:buNone/>
                      </a:pPr>
                      <a:r>
                        <a:rPr lang="en-US" sz="1800" b="1"/>
                        <a:t>Stage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800" b="1"/>
                        <a:t>Experiment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800" b="1"/>
                        <a:t>Primary Question</a:t>
                      </a: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6993526"/>
                  </a:ext>
                </a:extLst>
              </a:tr>
              <a:tr h="835187">
                <a:tc>
                  <a:txBody>
                    <a:bodyPr/>
                    <a:lstStyle/>
                    <a:p>
                      <a:pPr>
                        <a:buNone/>
                      </a:pPr>
                      <a:r>
                        <a:rPr lang="en-US" sz="1600" b="1"/>
                        <a:t>Initial Development</a:t>
                      </a:r>
                      <a:endParaRPr lang="en-US" sz="16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buNone/>
                      </a:pPr>
                      <a:r>
                        <a:rPr lang="en-US" sz="1600" b="0"/>
                        <a:t>Baseline Model Comparison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buNone/>
                      </a:pPr>
                      <a:r>
                        <a:rPr lang="en-US" sz="1600"/>
                        <a:t>Which model provides the strongest starting point?</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51083196"/>
                  </a:ext>
                </a:extLst>
              </a:tr>
              <a:tr h="835187">
                <a:tc>
                  <a:txBody>
                    <a:bodyPr/>
                    <a:lstStyle/>
                    <a:p>
                      <a:pPr>
                        <a:buNone/>
                      </a:pPr>
                      <a:r>
                        <a:rPr lang="en-US" sz="1600" b="1"/>
                        <a:t>Experiment 1</a:t>
                      </a:r>
                      <a:endParaRPr lang="en-US" sz="16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buNone/>
                      </a:pPr>
                      <a:r>
                        <a:rPr lang="en-US" sz="1600" b="0"/>
                        <a:t>More Training Data (3 months/ Q1)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6">
                        <a:lumMod val="20000"/>
                        <a:lumOff val="80000"/>
                      </a:schemeClr>
                    </a:solidFill>
                  </a:tcPr>
                </a:tc>
                <a:tc>
                  <a:txBody>
                    <a:bodyPr/>
                    <a:lstStyle/>
                    <a:p>
                      <a:pPr>
                        <a:buNone/>
                      </a:pPr>
                      <a:r>
                        <a:rPr lang="en-US" sz="1600"/>
                        <a:t>Does additional historical data improve delay detection?</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20123022"/>
                  </a:ext>
                </a:extLst>
              </a:tr>
              <a:tr h="636332">
                <a:tc>
                  <a:txBody>
                    <a:bodyPr/>
                    <a:lstStyle/>
                    <a:p>
                      <a:pPr>
                        <a:buNone/>
                      </a:pPr>
                      <a:r>
                        <a:rPr lang="en-US" sz="1600" b="1"/>
                        <a:t>Experiment 2</a:t>
                      </a:r>
                      <a:endParaRPr lang="en-US" sz="16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600" b="0"/>
                        <a:t>More Training Data (1 year)</a:t>
                      </a:r>
                      <a:endParaRPr lang="en-US" b="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1600" b="0" i="0" u="none" strike="noStrike" noProof="0">
                          <a:solidFill>
                            <a:srgbClr val="2A0053"/>
                          </a:solidFill>
                          <a:latin typeface="Aptos Light"/>
                        </a:rPr>
                        <a:t>Does additional historical data improve delay detection?</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947204"/>
                  </a:ext>
                </a:extLst>
              </a:tr>
              <a:tr h="636332">
                <a:tc>
                  <a:txBody>
                    <a:bodyPr/>
                    <a:lstStyle/>
                    <a:p>
                      <a:pPr lvl="0">
                        <a:buNone/>
                      </a:pPr>
                      <a:r>
                        <a:rPr lang="en-US" sz="1600" b="1"/>
                        <a:t>Experiment 3</a:t>
                      </a:r>
                      <a:endParaRPr lang="en-US" sz="16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600" b="0"/>
                        <a:t>Hyperparameter Tuning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buNone/>
                      </a:pPr>
                      <a:r>
                        <a:rPr lang="en-US" sz="1600"/>
                        <a:t>Can we improve RF performance through tuning?</a:t>
                      </a:r>
                      <a:endParaRPr lang="en-US"/>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293572"/>
                  </a:ext>
                </a:extLst>
              </a:tr>
              <a:tr h="835187">
                <a:tc>
                  <a:txBody>
                    <a:bodyPr/>
                    <a:lstStyle/>
                    <a:p>
                      <a:pPr>
                        <a:buNone/>
                      </a:pPr>
                      <a:r>
                        <a:rPr lang="en-US" sz="1600" b="1"/>
                        <a:t>Experiment 4</a:t>
                      </a:r>
                      <a:endParaRPr lang="en-US" sz="16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b="0"/>
                        <a:t>Classification Threshold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t>Can we reduce false positives while maintaining strong recall?</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1796242"/>
                  </a:ext>
                </a:extLst>
              </a:tr>
              <a:tr h="447421">
                <a:tc>
                  <a:txBody>
                    <a:bodyPr/>
                    <a:lstStyle/>
                    <a:p>
                      <a:pPr>
                        <a:buNone/>
                      </a:pPr>
                      <a:r>
                        <a:rPr lang="en-US" sz="1600" b="1"/>
                        <a:t>Final Model</a:t>
                      </a:r>
                      <a:endParaRPr lang="en-US" sz="16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b="0"/>
                        <a:t>Model Selection &amp; Validation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t>Which configuration should be deployed?</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6692549"/>
                  </a:ext>
                </a:extLst>
              </a:tr>
              <a:tr h="835187">
                <a:tc>
                  <a:txBody>
                    <a:bodyPr/>
                    <a:lstStyle/>
                    <a:p>
                      <a:pPr>
                        <a:buNone/>
                      </a:pPr>
                      <a:r>
                        <a:rPr lang="en-US" sz="1600" b="1"/>
                        <a:t>Deployment</a:t>
                      </a:r>
                      <a:endParaRPr lang="en-US" sz="16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b="0"/>
                        <a:t>Streamlit App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600"/>
                        <a:t>Can users enter flight information and receive a delay-risk prediction?</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2447622948"/>
                  </a:ext>
                </a:extLst>
              </a:tr>
            </a:tbl>
          </a:graphicData>
        </a:graphic>
      </p:graphicFrame>
    </p:spTree>
    <p:extLst>
      <p:ext uri="{BB962C8B-B14F-4D97-AF65-F5344CB8AC3E}">
        <p14:creationId xmlns:p14="http://schemas.microsoft.com/office/powerpoint/2010/main" val="3122932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3D9DA-A444-7795-35C9-5CA708FA9364}"/>
              </a:ext>
            </a:extLst>
          </p:cNvPr>
          <p:cNvSpPr>
            <a:spLocks noGrp="1"/>
          </p:cNvSpPr>
          <p:nvPr>
            <p:ph type="title"/>
          </p:nvPr>
        </p:nvSpPr>
        <p:spPr/>
        <p:txBody>
          <a:bodyPr/>
          <a:lstStyle/>
          <a:p>
            <a:r>
              <a:rPr lang="en-US" b="1">
                <a:ea typeface="+mj-lt"/>
                <a:cs typeface="+mj-lt"/>
              </a:rPr>
              <a:t>Prototype Demo</a:t>
            </a:r>
            <a:endParaRPr lang="en-US">
              <a:ea typeface="+mj-lt"/>
              <a:cs typeface="+mj-lt"/>
            </a:endParaRPr>
          </a:p>
          <a:p>
            <a:endParaRPr lang="en-US"/>
          </a:p>
          <a:p>
            <a:endParaRPr lang="en-US"/>
          </a:p>
        </p:txBody>
      </p:sp>
      <p:sp>
        <p:nvSpPr>
          <p:cNvPr id="3" name="Content Placeholder 2">
            <a:extLst>
              <a:ext uri="{FF2B5EF4-FFF2-40B4-BE49-F238E27FC236}">
                <a16:creationId xmlns:a16="http://schemas.microsoft.com/office/drawing/2014/main" id="{B307A1A6-3C5C-77BF-ACAC-4EAF7697AF8B}"/>
              </a:ext>
            </a:extLst>
          </p:cNvPr>
          <p:cNvSpPr>
            <a:spLocks noGrp="1"/>
          </p:cNvSpPr>
          <p:nvPr>
            <p:ph idx="1"/>
          </p:nvPr>
        </p:nvSpPr>
        <p:spPr/>
        <p:txBody>
          <a:bodyPr vert="horz" lIns="91440" tIns="45720" rIns="91440" bIns="45720" rtlCol="0" anchor="t">
            <a:normAutofit/>
          </a:bodyPr>
          <a:lstStyle/>
          <a:p>
            <a:r>
              <a:rPr lang="en-US" sz="1900">
                <a:ea typeface="+mn-lt"/>
                <a:cs typeface="+mn-lt"/>
                <a:hlinkClick r:id="rId3"/>
              </a:rPr>
              <a:t>Flight Delay Prediction · Streamlit</a:t>
            </a:r>
            <a:endParaRPr lang="en-US" sz="1900"/>
          </a:p>
        </p:txBody>
      </p:sp>
    </p:spTree>
    <p:extLst>
      <p:ext uri="{BB962C8B-B14F-4D97-AF65-F5344CB8AC3E}">
        <p14:creationId xmlns:p14="http://schemas.microsoft.com/office/powerpoint/2010/main" val="19574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59004-6362-A8B0-6161-1E26898683FE}"/>
              </a:ext>
            </a:extLst>
          </p:cNvPr>
          <p:cNvSpPr>
            <a:spLocks noGrp="1"/>
          </p:cNvSpPr>
          <p:nvPr>
            <p:ph type="title"/>
          </p:nvPr>
        </p:nvSpPr>
        <p:spPr/>
        <p:txBody>
          <a:bodyPr/>
          <a:lstStyle/>
          <a:p>
            <a:r>
              <a:rPr lang="en-US" b="1">
                <a:ea typeface="+mj-lt"/>
                <a:cs typeface="+mj-lt"/>
              </a:rPr>
              <a:t>Challenges &amp; Next Steps</a:t>
            </a:r>
            <a:endParaRPr lang="en-US" b="1"/>
          </a:p>
        </p:txBody>
      </p:sp>
      <p:sp>
        <p:nvSpPr>
          <p:cNvPr id="3" name="Content Placeholder 2">
            <a:extLst>
              <a:ext uri="{FF2B5EF4-FFF2-40B4-BE49-F238E27FC236}">
                <a16:creationId xmlns:a16="http://schemas.microsoft.com/office/drawing/2014/main" id="{B72BEDFB-0110-C24E-C6B0-8266D8A11DFC}"/>
              </a:ext>
            </a:extLst>
          </p:cNvPr>
          <p:cNvSpPr>
            <a:spLocks noGrp="1"/>
          </p:cNvSpPr>
          <p:nvPr>
            <p:ph idx="1"/>
          </p:nvPr>
        </p:nvSpPr>
        <p:spPr/>
        <p:txBody>
          <a:bodyPr vert="horz" lIns="91440" tIns="45720" rIns="91440" bIns="45720" rtlCol="0" anchor="t">
            <a:normAutofit/>
          </a:bodyPr>
          <a:lstStyle/>
          <a:p>
            <a:pPr>
              <a:buFont typeface="Arial"/>
              <a:buChar char="•"/>
            </a:pPr>
            <a:r>
              <a:rPr lang="en-US" sz="1900">
                <a:ea typeface="+mn-lt"/>
                <a:cs typeface="+mn-lt"/>
              </a:rPr>
              <a:t>Continue testing with additional flight data</a:t>
            </a:r>
            <a:endParaRPr lang="en-US" sz="1900"/>
          </a:p>
          <a:p>
            <a:pPr>
              <a:buFont typeface="Arial"/>
              <a:buChar char="•"/>
            </a:pPr>
            <a:r>
              <a:rPr lang="en-US" sz="1900">
                <a:ea typeface="+mn-lt"/>
                <a:cs typeface="+mn-lt"/>
              </a:rPr>
              <a:t>Improve the precision/recall tradeoff and reduce false delay alerts</a:t>
            </a:r>
            <a:endParaRPr lang="en-US"/>
          </a:p>
          <a:p>
            <a:pPr>
              <a:buFont typeface="Arial"/>
              <a:buChar char="•"/>
            </a:pPr>
            <a:r>
              <a:rPr lang="en-US" sz="1900">
                <a:ea typeface="+mn-lt"/>
                <a:cs typeface="+mn-lt"/>
              </a:rPr>
              <a:t>Continue tracking experiments in MLflow</a:t>
            </a:r>
            <a:endParaRPr lang="en-US"/>
          </a:p>
          <a:p>
            <a:pPr>
              <a:buFont typeface="Arial"/>
              <a:buChar char="•"/>
            </a:pPr>
            <a:r>
              <a:rPr lang="en-US" sz="1900">
                <a:ea typeface="+mn-lt"/>
                <a:cs typeface="+mn-lt"/>
              </a:rPr>
              <a:t>Test hyperparameter tuning and classification thresholds</a:t>
            </a:r>
            <a:endParaRPr lang="en-US"/>
          </a:p>
          <a:p>
            <a:pPr>
              <a:buFont typeface="Arial"/>
              <a:buChar char="•"/>
            </a:pPr>
            <a:r>
              <a:rPr lang="en-US" sz="1900">
                <a:ea typeface="+mn-lt"/>
                <a:cs typeface="+mn-lt"/>
              </a:rPr>
              <a:t>Select and version the best-performing model</a:t>
            </a:r>
            <a:endParaRPr lang="en-US"/>
          </a:p>
          <a:p>
            <a:pPr>
              <a:buFont typeface="Arial"/>
              <a:buChar char="•"/>
            </a:pPr>
            <a:r>
              <a:rPr lang="en-US" sz="1900">
                <a:ea typeface="+mn-lt"/>
                <a:cs typeface="+mn-lt"/>
              </a:rPr>
              <a:t>Continue developing the Streamlit app for travelers</a:t>
            </a:r>
            <a:endParaRPr lang="en-US"/>
          </a:p>
          <a:p>
            <a:pPr marL="285750" indent="-285750">
              <a:buFont typeface="Arial,Sans-Serif"/>
              <a:buChar char="•"/>
            </a:pPr>
            <a:endParaRPr lang="en-US" sz="1900"/>
          </a:p>
          <a:p>
            <a:endParaRPr lang="en-US"/>
          </a:p>
        </p:txBody>
      </p:sp>
    </p:spTree>
    <p:extLst>
      <p:ext uri="{BB962C8B-B14F-4D97-AF65-F5344CB8AC3E}">
        <p14:creationId xmlns:p14="http://schemas.microsoft.com/office/powerpoint/2010/main" val="2183179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EF19-F1AD-24F5-0F0C-CA770116A83D}"/>
              </a:ext>
            </a:extLst>
          </p:cNvPr>
          <p:cNvSpPr>
            <a:spLocks noGrp="1"/>
          </p:cNvSpPr>
          <p:nvPr>
            <p:ph type="ctrTitle"/>
          </p:nvPr>
        </p:nvSpPr>
        <p:spPr/>
        <p:txBody>
          <a:bodyPr/>
          <a:lstStyle/>
          <a:p>
            <a:r>
              <a:rPr lang="en-US"/>
              <a:t>Thank you!</a:t>
            </a:r>
          </a:p>
        </p:txBody>
      </p:sp>
    </p:spTree>
    <p:extLst>
      <p:ext uri="{BB962C8B-B14F-4D97-AF65-F5344CB8AC3E}">
        <p14:creationId xmlns:p14="http://schemas.microsoft.com/office/powerpoint/2010/main" val="1784040611"/>
      </p:ext>
    </p:extLst>
  </p:cSld>
  <p:clrMapOvr>
    <a:masterClrMapping/>
  </p:clrMapOvr>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10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Prismatic polygons</vt:lpstr>
      <vt:lpstr>Flight Delay Prediction ML System </vt:lpstr>
      <vt:lpstr>Problem &amp; Purpose   </vt:lpstr>
      <vt:lpstr>PowerPoint Presentation</vt:lpstr>
      <vt:lpstr>Data Pipeline</vt:lpstr>
      <vt:lpstr>Model Development &amp; Results – Version 1</vt:lpstr>
      <vt:lpstr>Experiment 1 - Does expanding the training dataset from one month to three (Q1 2026) improve model performance?</vt:lpstr>
      <vt:lpstr>Experiment 1 - Results</vt:lpstr>
      <vt:lpstr>Experiment Roadmap</vt:lpstr>
      <vt:lpstr>Prototype Demo  </vt:lpstr>
      <vt:lpstr>Challenges &amp;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2026-09-23T19:47:32Z</dcterms:created>
  <dcterms:modified xsi:type="dcterms:W3CDTF">2026-09-28T21:33:07Z</dcterms:modified>
</cp:coreProperties>
</file>